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71" r:id="rId5"/>
    <p:sldId id="266" r:id="rId6"/>
    <p:sldId id="268" r:id="rId7"/>
    <p:sldId id="270"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p:cViewPr varScale="1">
        <p:scale>
          <a:sx n="76" d="100"/>
          <a:sy n="76" d="100"/>
        </p:scale>
        <p:origin x="126" y="2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8/24/2025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134;p27">
            <a:extLst>
              <a:ext uri="{FF2B5EF4-FFF2-40B4-BE49-F238E27FC236}">
                <a16:creationId xmlns:a16="http://schemas.microsoft.com/office/drawing/2014/main" id="{C8FB2981-3017-4E9F-A26A-984EC20E146A}"/>
              </a:ext>
            </a:extLst>
          </p:cNvPr>
          <p:cNvPicPr/>
          <p:nvPr/>
        </p:nvPicPr>
        <p:blipFill>
          <a:blip r:embed="rId2"/>
          <a:srcRect t="5212" b="5204"/>
          <a:stretch/>
        </p:blipFill>
        <p:spPr>
          <a:xfrm flipH="1">
            <a:off x="0" y="0"/>
            <a:ext cx="12192000" cy="6858000"/>
          </a:xfrm>
          <a:prstGeom prst="rect">
            <a:avLst/>
          </a:prstGeom>
          <a:ln w="0">
            <a:noFill/>
          </a:ln>
        </p:spPr>
      </p:pic>
      <p:sp>
        <p:nvSpPr>
          <p:cNvPr id="3" name="Subtítulo 2">
            <a:extLst>
              <a:ext uri="{FF2B5EF4-FFF2-40B4-BE49-F238E27FC236}">
                <a16:creationId xmlns:a16="http://schemas.microsoft.com/office/drawing/2014/main" id="{B8948AD0-6870-47C7-9F00-47B0388617A6}"/>
              </a:ext>
            </a:extLst>
          </p:cNvPr>
          <p:cNvSpPr>
            <a:spLocks noGrp="1"/>
          </p:cNvSpPr>
          <p:nvPr>
            <p:ph type="subTitle" idx="1"/>
          </p:nvPr>
        </p:nvSpPr>
        <p:spPr>
          <a:xfrm>
            <a:off x="1637686" y="304801"/>
            <a:ext cx="9907587" cy="5726610"/>
          </a:xfrm>
        </p:spPr>
        <p:txBody>
          <a:bodyPr>
            <a:normAutofit/>
          </a:bodyPr>
          <a:lstStyle/>
          <a:p>
            <a:pPr algn="ctr"/>
            <a:r>
              <a:rPr lang="es-MX" sz="3200" b="1" dirty="0">
                <a:solidFill>
                  <a:schemeClr val="bg1"/>
                </a:solidFill>
              </a:rPr>
              <a:t>PROGRAMACION ESTRUCTURADA</a:t>
            </a:r>
            <a:endParaRPr lang="es-NI" sz="3200" b="1" dirty="0">
              <a:solidFill>
                <a:schemeClr val="bg1"/>
              </a:solidFill>
            </a:endParaRPr>
          </a:p>
        </p:txBody>
      </p:sp>
      <p:sp>
        <p:nvSpPr>
          <p:cNvPr id="5" name="CuadroTexto 4">
            <a:extLst>
              <a:ext uri="{FF2B5EF4-FFF2-40B4-BE49-F238E27FC236}">
                <a16:creationId xmlns:a16="http://schemas.microsoft.com/office/drawing/2014/main" id="{54B6E9FE-2BB2-4F1D-80D0-EC5962C7B10B}"/>
              </a:ext>
            </a:extLst>
          </p:cNvPr>
          <p:cNvSpPr txBox="1"/>
          <p:nvPr/>
        </p:nvSpPr>
        <p:spPr>
          <a:xfrm>
            <a:off x="6909773" y="5421810"/>
            <a:ext cx="4635500" cy="646331"/>
          </a:xfrm>
          <a:prstGeom prst="rect">
            <a:avLst/>
          </a:prstGeom>
          <a:noFill/>
        </p:spPr>
        <p:txBody>
          <a:bodyPr wrap="square" rtlCol="0">
            <a:spAutoFit/>
          </a:bodyPr>
          <a:lstStyle/>
          <a:p>
            <a:r>
              <a:rPr lang="es-MX" b="1" dirty="0">
                <a:solidFill>
                  <a:srgbClr val="FF0000"/>
                </a:solidFill>
              </a:rPr>
              <a:t>UNIDAD II: MODULARIDAD Y FUNCIONES</a:t>
            </a:r>
          </a:p>
          <a:p>
            <a:r>
              <a:rPr lang="es-MX" b="1" dirty="0">
                <a:solidFill>
                  <a:srgbClr val="FF0000"/>
                </a:solidFill>
              </a:rPr>
              <a:t>Ing. Marvin Chacon</a:t>
            </a:r>
            <a:endParaRPr lang="es-NI" b="1" dirty="0">
              <a:solidFill>
                <a:srgbClr val="FF0000"/>
              </a:solidFill>
            </a:endParaRPr>
          </a:p>
        </p:txBody>
      </p:sp>
    </p:spTree>
    <p:extLst>
      <p:ext uri="{BB962C8B-B14F-4D97-AF65-F5344CB8AC3E}">
        <p14:creationId xmlns:p14="http://schemas.microsoft.com/office/powerpoint/2010/main" val="3576191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EC071953-E459-46BF-A7E6-77148FE3C6EB}"/>
              </a:ext>
            </a:extLst>
          </p:cNvPr>
          <p:cNvSpPr txBox="1"/>
          <p:nvPr/>
        </p:nvSpPr>
        <p:spPr>
          <a:xfrm>
            <a:off x="2984500" y="1866900"/>
            <a:ext cx="8394700" cy="1497589"/>
          </a:xfrm>
          <a:prstGeom prst="rect">
            <a:avLst/>
          </a:prstGeom>
          <a:noFill/>
        </p:spPr>
        <p:txBody>
          <a:bodyPr wrap="square">
            <a:spAutoFit/>
          </a:bodyPr>
          <a:lstStyle/>
          <a:p>
            <a:pPr algn="just">
              <a:lnSpc>
                <a:spcPct val="107000"/>
              </a:lnSpc>
              <a:spcAft>
                <a:spcPts val="800"/>
              </a:spcAft>
            </a:pPr>
            <a:r>
              <a:rPr lang="es-ES" sz="3200" kern="100" dirty="0">
                <a:effectLst/>
              </a:rPr>
              <a:t>Temática: </a:t>
            </a:r>
            <a:r>
              <a:rPr lang="es-NI" sz="2800" kern="100" dirty="0">
                <a:effectLst/>
              </a:rPr>
              <a:t>Taller Práctico de Descomposición de Programas en Subprogramas.</a:t>
            </a:r>
            <a:endParaRPr lang="es-NI" sz="2800" kern="100" dirty="0">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endParaRPr lang="es-NI" sz="20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descr="Curso De Python 3 Desde Cero Para Novatos | Udemy">
            <a:extLst>
              <a:ext uri="{FF2B5EF4-FFF2-40B4-BE49-F238E27FC236}">
                <a16:creationId xmlns:a16="http://schemas.microsoft.com/office/drawing/2014/main" id="{44CEB8DE-F193-4755-804D-5349DF018D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4422" y="3136900"/>
            <a:ext cx="4897927" cy="2755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7229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9946800-F1C5-4FA3-885D-BB96D573BD5E}"/>
              </a:ext>
            </a:extLst>
          </p:cNvPr>
          <p:cNvSpPr>
            <a:spLocks noGrp="1"/>
          </p:cNvSpPr>
          <p:nvPr>
            <p:ph idx="1"/>
          </p:nvPr>
        </p:nvSpPr>
        <p:spPr>
          <a:xfrm>
            <a:off x="2438400" y="393700"/>
            <a:ext cx="8240712" cy="3777622"/>
          </a:xfrm>
        </p:spPr>
        <p:txBody>
          <a:bodyPr>
            <a:normAutofit/>
          </a:bodyPr>
          <a:lstStyle/>
          <a:p>
            <a:pPr marL="0" indent="0" algn="ctr">
              <a:buNone/>
            </a:pPr>
            <a:r>
              <a:rPr lang="es-MX" b="1" dirty="0">
                <a:solidFill>
                  <a:srgbClr val="FF0000"/>
                </a:solidFill>
              </a:rPr>
              <a:t>ACTIVIDAD 1: Planteamiento del Taller</a:t>
            </a:r>
          </a:p>
          <a:p>
            <a:endParaRPr lang="es-MX" dirty="0"/>
          </a:p>
          <a:p>
            <a:endParaRPr lang="es-MX" dirty="0"/>
          </a:p>
          <a:p>
            <a:endParaRPr lang="es-MX" dirty="0"/>
          </a:p>
          <a:p>
            <a:pPr marL="0" indent="0">
              <a:buNone/>
            </a:pPr>
            <a:endParaRPr lang="es-NI" dirty="0"/>
          </a:p>
        </p:txBody>
      </p:sp>
      <p:pic>
        <p:nvPicPr>
          <p:cNvPr id="2050" name="Picture 2" descr="19.300+ Chico Pensando Ilustraciones de Stock, gráficos ...">
            <a:extLst>
              <a:ext uri="{FF2B5EF4-FFF2-40B4-BE49-F238E27FC236}">
                <a16:creationId xmlns:a16="http://schemas.microsoft.com/office/drawing/2014/main" id="{62737360-AADB-4C0D-8738-DDE2EC8C808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104900" y="4660272"/>
            <a:ext cx="2247900" cy="224790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8FAAFE0C-481A-41E0-A061-BDF60E45E259}"/>
              </a:ext>
            </a:extLst>
          </p:cNvPr>
          <p:cNvSpPr txBox="1"/>
          <p:nvPr/>
        </p:nvSpPr>
        <p:spPr>
          <a:xfrm>
            <a:off x="2965450" y="939795"/>
            <a:ext cx="8240712" cy="4905510"/>
          </a:xfrm>
          <a:prstGeom prst="rect">
            <a:avLst/>
          </a:prstGeom>
          <a:noFill/>
        </p:spPr>
        <p:txBody>
          <a:bodyPr wrap="square">
            <a:spAutoFit/>
          </a:bodyPr>
          <a:lstStyle/>
          <a:p>
            <a:pPr>
              <a:lnSpc>
                <a:spcPct val="107000"/>
              </a:lnSpc>
              <a:spcAft>
                <a:spcPts val="800"/>
              </a:spcAft>
            </a:pPr>
            <a:r>
              <a:rPr lang="es-NI" sz="2800" b="1" i="1" dirty="0">
                <a:latin typeface="Calibri" panose="020F0502020204030204" pitchFamily="34" charset="0"/>
                <a:ea typeface="Calibri" panose="020F0502020204030204" pitchFamily="34" charset="0"/>
                <a:cs typeface="Times New Roman" panose="02020603050405020304" pitchFamily="18" charset="0"/>
              </a:rPr>
              <a:t>Desafío 1</a:t>
            </a:r>
            <a:r>
              <a:rPr lang="es-NI" sz="2800" b="1" i="1" dirty="0">
                <a:effectLst/>
                <a:latin typeface="Calibri" panose="020F0502020204030204" pitchFamily="34" charset="0"/>
                <a:ea typeface="Calibri" panose="020F0502020204030204" pitchFamily="34" charset="0"/>
                <a:cs typeface="Times New Roman" panose="02020603050405020304" pitchFamily="18" charset="0"/>
              </a:rPr>
              <a:t>: Contador de Vocales </a:t>
            </a:r>
            <a:endParaRPr lang="es-NI" sz="2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NI" sz="2400" dirty="0">
                <a:effectLst/>
                <a:latin typeface="Calibri" panose="020F0502020204030204" pitchFamily="34" charset="0"/>
                <a:ea typeface="Calibri" panose="020F0502020204030204" pitchFamily="34" charset="0"/>
                <a:cs typeface="Times New Roman" panose="02020603050405020304" pitchFamily="18" charset="0"/>
              </a:rPr>
              <a:t>Elaborar un programa que cuente el número de vocales en una frase proporcionada por el usuario. El código debe estar estructurado siguiendo la metodología de diseño descendente, separando las responsabilidades de entrada, procesamiento y salida.</a:t>
            </a:r>
          </a:p>
          <a:p>
            <a:pPr algn="just">
              <a:lnSpc>
                <a:spcPct val="107000"/>
              </a:lnSpc>
              <a:spcAft>
                <a:spcPts val="800"/>
              </a:spcAft>
            </a:pPr>
            <a:endParaRPr lang="es-NI" sz="2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NI" sz="2400" dirty="0">
                <a:effectLst/>
                <a:latin typeface="Calibri" panose="020F0502020204030204" pitchFamily="34" charset="0"/>
                <a:ea typeface="Calibri" panose="020F0502020204030204" pitchFamily="34" charset="0"/>
                <a:cs typeface="Times New Roman" panose="02020603050405020304" pitchFamily="18" charset="0"/>
              </a:rPr>
              <a:t>Ejemplo de salida: </a:t>
            </a:r>
          </a:p>
          <a:p>
            <a:pPr algn="just">
              <a:lnSpc>
                <a:spcPct val="107000"/>
              </a:lnSpc>
              <a:spcAft>
                <a:spcPts val="800"/>
              </a:spcAft>
            </a:pPr>
            <a:r>
              <a:rPr lang="es-NI" sz="1800" dirty="0">
                <a:effectLst/>
                <a:latin typeface="Calibri" panose="020F0502020204030204" pitchFamily="34" charset="0"/>
                <a:ea typeface="Calibri" panose="020F0502020204030204" pitchFamily="34" charset="0"/>
                <a:cs typeface="Times New Roman" panose="02020603050405020304" pitchFamily="18" charset="0"/>
              </a:rPr>
              <a:t>                 Frase analizada: </a:t>
            </a:r>
            <a:r>
              <a:rPr lang="es-NI" sz="1800" dirty="0" err="1">
                <a:effectLst/>
                <a:latin typeface="Calibri" panose="020F0502020204030204" pitchFamily="34" charset="0"/>
                <a:ea typeface="Calibri" panose="020F0502020204030204" pitchFamily="34" charset="0"/>
                <a:cs typeface="Times New Roman" panose="02020603050405020304" pitchFamily="18" charset="0"/>
              </a:rPr>
              <a:t>xxxxxxxxxxxxxxxxxxxxxxxxxxx</a:t>
            </a:r>
            <a:endParaRPr lang="es-NI"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NI" dirty="0">
                <a:latin typeface="Calibri" panose="020F0502020204030204" pitchFamily="34" charset="0"/>
                <a:ea typeface="Calibri" panose="020F0502020204030204" pitchFamily="34" charset="0"/>
                <a:cs typeface="Times New Roman" panose="02020603050405020304" pitchFamily="18" charset="0"/>
              </a:rPr>
              <a:t>		</a:t>
            </a:r>
            <a:r>
              <a:rPr lang="es-NI" sz="1800" dirty="0">
                <a:effectLst/>
                <a:latin typeface="Calibri" panose="020F0502020204030204" pitchFamily="34" charset="0"/>
                <a:ea typeface="Calibri" panose="020F0502020204030204" pitchFamily="34" charset="0"/>
                <a:cs typeface="Times New Roman" panose="02020603050405020304" pitchFamily="18" charset="0"/>
              </a:rPr>
              <a:t>Número total de vocales encontradas: ?</a:t>
            </a:r>
          </a:p>
          <a:p>
            <a:pPr algn="just">
              <a:lnSpc>
                <a:spcPct val="107000"/>
              </a:lnSpc>
              <a:spcAft>
                <a:spcPts val="800"/>
              </a:spcAft>
            </a:pPr>
            <a:endParaRPr lang="es-NI"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002650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9946800-F1C5-4FA3-885D-BB96D573BD5E}"/>
              </a:ext>
            </a:extLst>
          </p:cNvPr>
          <p:cNvSpPr>
            <a:spLocks noGrp="1"/>
          </p:cNvSpPr>
          <p:nvPr>
            <p:ph idx="1"/>
          </p:nvPr>
        </p:nvSpPr>
        <p:spPr>
          <a:xfrm>
            <a:off x="2400300" y="88900"/>
            <a:ext cx="8240712" cy="558800"/>
          </a:xfrm>
        </p:spPr>
        <p:txBody>
          <a:bodyPr>
            <a:normAutofit/>
          </a:bodyPr>
          <a:lstStyle/>
          <a:p>
            <a:pPr marL="0" indent="0" algn="ctr">
              <a:buNone/>
            </a:pPr>
            <a:r>
              <a:rPr lang="es-MX" b="1" dirty="0">
                <a:solidFill>
                  <a:srgbClr val="FF0000"/>
                </a:solidFill>
              </a:rPr>
              <a:t>ACTIVIDAD 1: Planteamiento del Taller</a:t>
            </a:r>
          </a:p>
          <a:p>
            <a:endParaRPr lang="es-MX" dirty="0"/>
          </a:p>
          <a:p>
            <a:endParaRPr lang="es-MX" dirty="0"/>
          </a:p>
          <a:p>
            <a:endParaRPr lang="es-MX" dirty="0"/>
          </a:p>
          <a:p>
            <a:pPr marL="0" indent="0">
              <a:buNone/>
            </a:pPr>
            <a:endParaRPr lang="es-NI" dirty="0"/>
          </a:p>
        </p:txBody>
      </p:sp>
      <p:pic>
        <p:nvPicPr>
          <p:cNvPr id="2050" name="Picture 2" descr="19.300+ Chico Pensando Ilustraciones de Stock, gráficos ...">
            <a:extLst>
              <a:ext uri="{FF2B5EF4-FFF2-40B4-BE49-F238E27FC236}">
                <a16:creationId xmlns:a16="http://schemas.microsoft.com/office/drawing/2014/main" id="{62737360-AADB-4C0D-8738-DDE2EC8C808F}"/>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104900" y="4660272"/>
            <a:ext cx="2247900" cy="224790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8FAAFE0C-481A-41E0-A061-BDF60E45E259}"/>
              </a:ext>
            </a:extLst>
          </p:cNvPr>
          <p:cNvSpPr txBox="1"/>
          <p:nvPr/>
        </p:nvSpPr>
        <p:spPr>
          <a:xfrm>
            <a:off x="2228850" y="546095"/>
            <a:ext cx="9791700" cy="6752169"/>
          </a:xfrm>
          <a:prstGeom prst="rect">
            <a:avLst/>
          </a:prstGeom>
          <a:noFill/>
        </p:spPr>
        <p:txBody>
          <a:bodyPr wrap="square">
            <a:spAutoFit/>
          </a:bodyPr>
          <a:lstStyle/>
          <a:p>
            <a:pPr>
              <a:lnSpc>
                <a:spcPct val="107000"/>
              </a:lnSpc>
              <a:spcAft>
                <a:spcPts val="800"/>
              </a:spcAft>
            </a:pPr>
            <a:r>
              <a:rPr lang="es-NI" sz="2800" b="1" i="1" dirty="0">
                <a:latin typeface="Calibri" panose="020F0502020204030204" pitchFamily="34" charset="0"/>
                <a:ea typeface="Calibri" panose="020F0502020204030204" pitchFamily="34" charset="0"/>
                <a:cs typeface="Times New Roman" panose="02020603050405020304" pitchFamily="18" charset="0"/>
              </a:rPr>
              <a:t>Desafío 2</a:t>
            </a:r>
            <a:r>
              <a:rPr lang="es-NI" sz="2800" b="1" i="1" dirty="0">
                <a:effectLst/>
                <a:latin typeface="Calibri" panose="020F0502020204030204" pitchFamily="34" charset="0"/>
                <a:ea typeface="Calibri" panose="020F0502020204030204" pitchFamily="34" charset="0"/>
                <a:cs typeface="Times New Roman" panose="02020603050405020304" pitchFamily="18" charset="0"/>
              </a:rPr>
              <a:t>: Cálculo del Índice de masa corporal</a:t>
            </a:r>
            <a:endParaRPr lang="es-NI" sz="3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NI" sz="2400" dirty="0">
                <a:effectLst/>
                <a:latin typeface="Calibri" panose="020F0502020204030204" pitchFamily="34" charset="0"/>
                <a:ea typeface="Calibri" panose="020F0502020204030204" pitchFamily="34" charset="0"/>
                <a:cs typeface="Times New Roman" panose="02020603050405020304" pitchFamily="18" charset="0"/>
              </a:rPr>
              <a:t>Elaborar un programa que calcule el Índice de Masa Corporal (IMC) de una persona. Debe ser estructurado usando diseño descendente para separar la entrada de datos, el cálculo, la interpretación y la presentación de resultados. El programa debe pedir al usuario ingresar su peso en kg, y su altura en metros. Ambos datos deben ser valores positivos.</a:t>
            </a:r>
          </a:p>
          <a:p>
            <a:pPr algn="just">
              <a:lnSpc>
                <a:spcPct val="107000"/>
              </a:lnSpc>
              <a:spcAft>
                <a:spcPts val="800"/>
              </a:spcAft>
            </a:pPr>
            <a:r>
              <a:rPr lang="es-NI" sz="2400" dirty="0">
                <a:latin typeface="Calibri" panose="020F0502020204030204" pitchFamily="34" charset="0"/>
                <a:ea typeface="Calibri" panose="020F0502020204030204" pitchFamily="34" charset="0"/>
                <a:cs typeface="Times New Roman" panose="02020603050405020304" pitchFamily="18" charset="0"/>
              </a:rPr>
              <a:t>Formula para calcular IMC = peso * altura</a:t>
            </a:r>
            <a:r>
              <a:rPr lang="es-NI" sz="2400" baseline="30000" dirty="0">
                <a:latin typeface="Calibri" panose="020F0502020204030204" pitchFamily="34" charset="0"/>
                <a:ea typeface="Calibri" panose="020F0502020204030204" pitchFamily="34" charset="0"/>
                <a:cs typeface="Times New Roman" panose="02020603050405020304" pitchFamily="18" charset="0"/>
              </a:rPr>
              <a:t>2</a:t>
            </a:r>
            <a:endParaRPr lang="es-NI" sz="2400" baseline="30000" dirty="0">
              <a:effectLst/>
              <a:latin typeface="Calibri" panose="020F0502020204030204" pitchFamily="34" charset="0"/>
              <a:ea typeface="Calibri" panose="020F0502020204030204" pitchFamily="34" charset="0"/>
              <a:cs typeface="Times New Roman" panose="02020603050405020304" pitchFamily="18" charset="0"/>
            </a:endParaRPr>
          </a:p>
          <a:p>
            <a:pPr marL="1079500" algn="l" fontAlgn="ctr"/>
            <a:r>
              <a:rPr lang="es-MX" sz="2400" b="0" i="0" dirty="0">
                <a:effectLst/>
                <a:latin typeface="Google Sans"/>
              </a:rPr>
              <a:t>Categorías de IMC para adultos </a:t>
            </a:r>
          </a:p>
          <a:p>
            <a:pPr marL="1079500" algn="l">
              <a:buFont typeface="Arial" panose="020B0604020202020204" pitchFamily="34" charset="0"/>
              <a:buChar char="•"/>
            </a:pPr>
            <a:r>
              <a:rPr lang="es-MX" sz="2400" b="1" i="0" dirty="0">
                <a:effectLst/>
                <a:latin typeface="Google Sans"/>
              </a:rPr>
              <a:t>Bajo peso:</a:t>
            </a:r>
            <a:r>
              <a:rPr lang="es-MX" sz="2400" b="0" i="0" dirty="0">
                <a:effectLst/>
                <a:latin typeface="Google Sans"/>
              </a:rPr>
              <a:t> IMC inferior a 18.5.</a:t>
            </a:r>
          </a:p>
          <a:p>
            <a:pPr marL="1079500" algn="l">
              <a:buFont typeface="Arial" panose="020B0604020202020204" pitchFamily="34" charset="0"/>
              <a:buChar char="•"/>
            </a:pPr>
            <a:r>
              <a:rPr lang="es-MX" sz="2400" b="1" i="0" dirty="0">
                <a:effectLst/>
                <a:latin typeface="Google Sans"/>
              </a:rPr>
              <a:t>Peso normal (o saludable):</a:t>
            </a:r>
            <a:r>
              <a:rPr lang="es-MX" sz="2400" b="0" i="0" dirty="0">
                <a:effectLst/>
                <a:latin typeface="Google Sans"/>
              </a:rPr>
              <a:t> IMC entre 18.5 y 24.9.</a:t>
            </a:r>
          </a:p>
          <a:p>
            <a:pPr marL="1079500" algn="l">
              <a:buFont typeface="Arial" panose="020B0604020202020204" pitchFamily="34" charset="0"/>
              <a:buChar char="•"/>
            </a:pPr>
            <a:r>
              <a:rPr lang="es-MX" sz="2400" b="1" i="0" dirty="0">
                <a:effectLst/>
                <a:latin typeface="Google Sans"/>
              </a:rPr>
              <a:t>Sobrepeso:</a:t>
            </a:r>
            <a:r>
              <a:rPr lang="es-MX" sz="2400" b="0" i="0" dirty="0">
                <a:effectLst/>
                <a:latin typeface="Google Sans"/>
              </a:rPr>
              <a:t> IMC entre 25.0 y 29.9.</a:t>
            </a:r>
          </a:p>
          <a:p>
            <a:pPr marL="1079500" algn="l">
              <a:buFont typeface="Arial" panose="020B0604020202020204" pitchFamily="34" charset="0"/>
              <a:buChar char="•"/>
            </a:pPr>
            <a:r>
              <a:rPr lang="es-MX" sz="2400" b="1" i="0" dirty="0">
                <a:effectLst/>
                <a:latin typeface="Google Sans"/>
              </a:rPr>
              <a:t>Obesidad:</a:t>
            </a:r>
            <a:r>
              <a:rPr lang="es-MX" sz="2400" b="0" i="0" dirty="0">
                <a:effectLst/>
                <a:latin typeface="Google Sans"/>
              </a:rPr>
              <a:t> IMC de 30.0 o superior.</a:t>
            </a:r>
          </a:p>
          <a:p>
            <a:pPr marL="1079500" algn="just">
              <a:lnSpc>
                <a:spcPct val="107000"/>
              </a:lnSpc>
              <a:spcAft>
                <a:spcPts val="800"/>
              </a:spcAft>
            </a:pPr>
            <a:r>
              <a:rPr lang="es-NI" sz="2400" dirty="0">
                <a:effectLst/>
                <a:latin typeface="Calibri" panose="020F0502020204030204" pitchFamily="34" charset="0"/>
                <a:ea typeface="Calibri" panose="020F0502020204030204" pitchFamily="34" charset="0"/>
                <a:cs typeface="Times New Roman" panose="02020603050405020304" pitchFamily="18" charset="0"/>
              </a:rPr>
              <a:t>Ejemplo de salida: </a:t>
            </a:r>
          </a:p>
          <a:p>
            <a:pPr marL="1079500">
              <a:lnSpc>
                <a:spcPct val="107000"/>
              </a:lnSpc>
              <a:spcAft>
                <a:spcPts val="800"/>
              </a:spcAft>
            </a:pPr>
            <a:r>
              <a:rPr lang="es-NI" b="1" dirty="0">
                <a:latin typeface="Calibri" panose="020F0502020204030204" pitchFamily="34" charset="0"/>
                <a:ea typeface="Calibri" panose="020F0502020204030204" pitchFamily="34" charset="0"/>
                <a:cs typeface="Times New Roman" panose="02020603050405020304" pitchFamily="18" charset="0"/>
              </a:rPr>
              <a:t>S</a:t>
            </a:r>
            <a:r>
              <a:rPr lang="es-NI" sz="1800" b="1" dirty="0">
                <a:effectLst/>
                <a:latin typeface="Calibri" panose="020F0502020204030204" pitchFamily="34" charset="0"/>
                <a:ea typeface="Calibri" panose="020F0502020204030204" pitchFamily="34" charset="0"/>
                <a:cs typeface="Times New Roman" panose="02020603050405020304" pitchFamily="18" charset="0"/>
              </a:rPr>
              <a:t>u Índice de Masa Corporal (IMC) es: ?</a:t>
            </a:r>
          </a:p>
          <a:p>
            <a:pPr marL="1079500">
              <a:lnSpc>
                <a:spcPct val="107000"/>
              </a:lnSpc>
              <a:spcAft>
                <a:spcPts val="800"/>
              </a:spcAft>
            </a:pPr>
            <a:r>
              <a:rPr lang="es-NI" b="1" dirty="0">
                <a:latin typeface="Calibri" panose="020F0502020204030204" pitchFamily="34" charset="0"/>
                <a:ea typeface="Calibri" panose="020F0502020204030204" pitchFamily="34" charset="0"/>
                <a:cs typeface="Times New Roman" panose="02020603050405020304" pitchFamily="18" charset="0"/>
              </a:rPr>
              <a:t>Su categoría según su IMC es: </a:t>
            </a:r>
            <a:r>
              <a:rPr lang="es-NI" b="1" dirty="0" err="1">
                <a:latin typeface="Calibri" panose="020F0502020204030204" pitchFamily="34" charset="0"/>
                <a:ea typeface="Calibri" panose="020F0502020204030204" pitchFamily="34" charset="0"/>
                <a:cs typeface="Times New Roman" panose="02020603050405020304" pitchFamily="18" charset="0"/>
              </a:rPr>
              <a:t>xxxxxxxxxxxx</a:t>
            </a:r>
            <a:endParaRPr lang="es-NI" sz="1800" b="1"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s-NI"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7135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D3EAAAC-E4DF-4500-BC38-F521A18A1499}"/>
              </a:ext>
            </a:extLst>
          </p:cNvPr>
          <p:cNvSpPr>
            <a:spLocks noGrp="1"/>
          </p:cNvSpPr>
          <p:nvPr>
            <p:ph idx="1"/>
          </p:nvPr>
        </p:nvSpPr>
        <p:spPr>
          <a:xfrm>
            <a:off x="2209602" y="584200"/>
            <a:ext cx="8329612" cy="6057900"/>
          </a:xfrm>
        </p:spPr>
        <p:txBody>
          <a:bodyPr>
            <a:norm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s-MX" sz="2800" b="1" dirty="0">
                <a:solidFill>
                  <a:srgbClr val="FF0000"/>
                </a:solidFill>
              </a:rPr>
              <a:t>Actividad 2: </a:t>
            </a:r>
            <a:r>
              <a:rPr lang="es-NI" sz="2800" b="1" i="1" dirty="0">
                <a:solidFill>
                  <a:schemeClr val="tx1"/>
                </a:solidFill>
                <a:latin typeface="Aptos Display"/>
                <a:cs typeface="Times New Roman" panose="02020603050405020304" pitchFamily="18" charset="0"/>
              </a:rPr>
              <a:t>Desarrollo del taller practico</a:t>
            </a:r>
            <a:endParaRPr kumimoji="0" lang="es-NI" altLang="es-NI"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NI" altLang="es-NI" sz="2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s-NI" altLang="es-NI" sz="2400" dirty="0">
              <a:solidFill>
                <a:schemeClr val="tx1"/>
              </a:solidFill>
              <a:latin typeface="Calibri" panose="020F0502020204030204" pitchFamily="34" charset="0"/>
              <a:ea typeface="Times New Roman" panose="02020603050405020304" pitchFamily="18" charset="0"/>
              <a:cs typeface="Calibri" panose="020F0502020204030204" pitchFamily="34" charset="0"/>
            </a:endParaRPr>
          </a:p>
          <a:p>
            <a:pPr algn="just" defTabSz="914400" eaLnBrk="0" fontAlgn="base" hangingPunct="0">
              <a:spcBef>
                <a:spcPct val="0"/>
              </a:spcBef>
              <a:spcAft>
                <a:spcPct val="0"/>
              </a:spcAft>
              <a:buClrTx/>
            </a:pPr>
            <a:r>
              <a:rPr lang="es-NI" altLang="es-NI" sz="2400" dirty="0">
                <a:solidFill>
                  <a:schemeClr val="tx1"/>
                </a:solidFill>
                <a:latin typeface="Calibri" panose="020F0502020204030204" pitchFamily="34" charset="0"/>
                <a:ea typeface="Times New Roman" panose="02020603050405020304" pitchFamily="18" charset="0"/>
                <a:cs typeface="Calibri" panose="020F0502020204030204" pitchFamily="34" charset="0"/>
              </a:rPr>
              <a:t>Los estudiantes organizados en pareja analizan y codifican los desafíos en el entorno de desarrollo utilizado en la clase.</a:t>
            </a:r>
            <a:r>
              <a:rPr kumimoji="0" lang="es-NI" altLang="es-NI" sz="2400" b="0" i="0" u="none" strike="noStrike" cap="none" normalizeH="0" baseline="0" dirty="0">
                <a:ln>
                  <a:noFill/>
                </a:ln>
                <a:solidFill>
                  <a:schemeClr val="tx1"/>
                </a:solidFill>
                <a:effectLst/>
              </a:rPr>
              <a:t> </a:t>
            </a:r>
          </a:p>
          <a:p>
            <a:pPr marL="0" indent="0" algn="just" defTabSz="914400" eaLnBrk="0" fontAlgn="base" hangingPunct="0">
              <a:spcBef>
                <a:spcPct val="0"/>
              </a:spcBef>
              <a:spcAft>
                <a:spcPct val="0"/>
              </a:spcAft>
              <a:buClrTx/>
              <a:buNone/>
            </a:pPr>
            <a:endParaRPr kumimoji="0" lang="es-NI" altLang="es-NI" sz="2400" b="0" i="0" u="none" strike="noStrike" cap="none" normalizeH="0" baseline="0" dirty="0">
              <a:ln>
                <a:noFill/>
              </a:ln>
              <a:solidFill>
                <a:schemeClr val="tx1"/>
              </a:solidFill>
              <a:effectLst/>
            </a:endParaRPr>
          </a:p>
          <a:p>
            <a:pPr algn="just" defTabSz="914400" eaLnBrk="0" fontAlgn="base" hangingPunct="0">
              <a:spcBef>
                <a:spcPct val="0"/>
              </a:spcBef>
              <a:spcAft>
                <a:spcPct val="0"/>
              </a:spcAft>
              <a:buClrTx/>
            </a:pPr>
            <a:r>
              <a:rPr lang="es-NI" altLang="es-NI" sz="2400" dirty="0">
                <a:solidFill>
                  <a:schemeClr val="tx1"/>
                </a:solidFill>
                <a:latin typeface="Calibri" panose="020F0502020204030204" pitchFamily="34" charset="0"/>
                <a:cs typeface="Calibri" panose="020F0502020204030204" pitchFamily="34" charset="0"/>
              </a:rPr>
              <a:t>El docente circula por el laboratorio aclarando dudas y reforzando la estrategia del diseño descendente en Python.</a:t>
            </a:r>
          </a:p>
          <a:p>
            <a:pPr marL="0" indent="0" algn="just" defTabSz="914400" eaLnBrk="0" fontAlgn="base" hangingPunct="0">
              <a:spcBef>
                <a:spcPct val="0"/>
              </a:spcBef>
              <a:spcAft>
                <a:spcPct val="0"/>
              </a:spcAft>
              <a:buClrTx/>
              <a:buNone/>
            </a:pPr>
            <a:endParaRPr lang="es-NI" altLang="es-NI" sz="2400" dirty="0">
              <a:solidFill>
                <a:schemeClr val="tx1"/>
              </a:solidFill>
              <a:latin typeface="Calibri" panose="020F0502020204030204" pitchFamily="34" charset="0"/>
              <a:cs typeface="Calibri" panose="020F0502020204030204" pitchFamily="34" charset="0"/>
            </a:endParaRPr>
          </a:p>
          <a:p>
            <a:pPr algn="just" defTabSz="914400" eaLnBrk="0" fontAlgn="base" hangingPunct="0">
              <a:spcBef>
                <a:spcPct val="0"/>
              </a:spcBef>
              <a:spcAft>
                <a:spcPct val="0"/>
              </a:spcAft>
              <a:buClrTx/>
            </a:pPr>
            <a:r>
              <a:rPr kumimoji="0" lang="es-NI" altLang="es-NI"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Al finalizar los desafíos cada pareja debe</a:t>
            </a:r>
            <a:r>
              <a:rPr lang="es-NI" altLang="es-NI" sz="2400" dirty="0">
                <a:solidFill>
                  <a:schemeClr val="tx1"/>
                </a:solidFill>
                <a:latin typeface="Calibri" panose="020F0502020204030204" pitchFamily="34" charset="0"/>
                <a:cs typeface="Calibri" panose="020F0502020204030204" pitchFamily="34" charset="0"/>
              </a:rPr>
              <a:t>rá presentar la salida correspondiente al docente. </a:t>
            </a:r>
            <a:endParaRPr kumimoji="0" lang="es-NI" altLang="es-NI"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s-NI" altLang="es-NI" sz="2400" dirty="0">
              <a:solidFill>
                <a:schemeClr val="tx1"/>
              </a:solidFill>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NI" altLang="es-NI" sz="3600" b="0" i="0" u="none" strike="noStrike" cap="none" normalizeH="0" baseline="0" dirty="0">
              <a:ln>
                <a:noFill/>
              </a:ln>
              <a:solidFill>
                <a:schemeClr val="tx1"/>
              </a:solidFill>
              <a:effectLst/>
              <a:latin typeface="Arial" panose="020B0604020202020204" pitchFamily="34" charset="0"/>
            </a:endParaRPr>
          </a:p>
        </p:txBody>
      </p:sp>
      <p:pic>
        <p:nvPicPr>
          <p:cNvPr id="4" name="Picture 2" descr="Concepto De Error En El Código Del Programa Foto de stock y más banco de  imágenes de Mensaje de error - Mensaje de error, Fallo, Fracaso - iStock">
            <a:extLst>
              <a:ext uri="{FF2B5EF4-FFF2-40B4-BE49-F238E27FC236}">
                <a16:creationId xmlns:a16="http://schemas.microsoft.com/office/drawing/2014/main" id="{2537DBC3-29FD-4167-AF82-775D346FA0A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80700" y="1724081"/>
            <a:ext cx="1379108" cy="1425519"/>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5" name="Picture 2" descr="Aprende PYTHON de CERO a EXPERTO | Udemy">
            <a:extLst>
              <a:ext uri="{FF2B5EF4-FFF2-40B4-BE49-F238E27FC236}">
                <a16:creationId xmlns:a16="http://schemas.microsoft.com/office/drawing/2014/main" id="{7CC4212E-9EAD-4382-949F-E024E8C325F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686299" y="5069747"/>
            <a:ext cx="3178175" cy="1788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64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957C9BF-18D4-43C1-81B5-00963B52F83E}"/>
              </a:ext>
            </a:extLst>
          </p:cNvPr>
          <p:cNvSpPr>
            <a:spLocks noGrp="1"/>
          </p:cNvSpPr>
          <p:nvPr>
            <p:ph idx="1"/>
          </p:nvPr>
        </p:nvSpPr>
        <p:spPr>
          <a:xfrm>
            <a:off x="2436812" y="952500"/>
            <a:ext cx="8915400" cy="5295900"/>
          </a:xfrm>
        </p:spPr>
        <p:txBody>
          <a:bodyPr/>
          <a:lstStyle/>
          <a:p>
            <a:pPr marL="0" indent="0">
              <a:buNone/>
            </a:pPr>
            <a:r>
              <a:rPr lang="es-MX" b="1" dirty="0">
                <a:solidFill>
                  <a:srgbClr val="FF0000"/>
                </a:solidFill>
              </a:rPr>
              <a:t>ACTIVIDAD 3. </a:t>
            </a:r>
            <a:r>
              <a:rPr lang="es-MX" sz="2000" b="1" dirty="0">
                <a:solidFill>
                  <a:srgbClr val="FF0000"/>
                </a:solidFill>
              </a:rPr>
              <a:t>Puesta en común, dudas, logros y reflexión</a:t>
            </a:r>
            <a:endParaRPr lang="es-MX" b="1" dirty="0">
              <a:solidFill>
                <a:srgbClr val="FF0000"/>
              </a:solidFill>
            </a:endParaRPr>
          </a:p>
          <a:p>
            <a:pPr marL="0" indent="0">
              <a:buNone/>
            </a:pPr>
            <a:endParaRPr lang="es-MX" b="1" dirty="0">
              <a:solidFill>
                <a:srgbClr val="FF0000"/>
              </a:solidFill>
            </a:endParaRPr>
          </a:p>
          <a:p>
            <a:pPr>
              <a:buFont typeface="Wingdings" panose="05000000000000000000" pitchFamily="2" charset="2"/>
              <a:buChar char="q"/>
            </a:pPr>
            <a:r>
              <a:rPr lang="es-MX" b="1" dirty="0">
                <a:solidFill>
                  <a:schemeClr val="tx1"/>
                </a:solidFill>
              </a:rPr>
              <a:t>Tiene algún comentario o duda de la practica del día de hoy?</a:t>
            </a:r>
          </a:p>
          <a:p>
            <a:pPr>
              <a:buFont typeface="Wingdings" panose="05000000000000000000" pitchFamily="2" charset="2"/>
              <a:buChar char="q"/>
            </a:pPr>
            <a:endParaRPr lang="es-MX" b="1" dirty="0">
              <a:solidFill>
                <a:schemeClr val="tx1"/>
              </a:solidFill>
            </a:endParaRPr>
          </a:p>
          <a:p>
            <a:pPr>
              <a:buFont typeface="Wingdings" panose="05000000000000000000" pitchFamily="2" charset="2"/>
              <a:buChar char="q"/>
            </a:pPr>
            <a:r>
              <a:rPr lang="es-MX" b="1" dirty="0">
                <a:solidFill>
                  <a:schemeClr val="tx1"/>
                </a:solidFill>
              </a:rPr>
              <a:t>Cual de los dos desafíos le fue mas complejo desarrollar y porque?</a:t>
            </a:r>
          </a:p>
          <a:p>
            <a:pPr>
              <a:buFont typeface="Wingdings" panose="05000000000000000000" pitchFamily="2" charset="2"/>
              <a:buChar char="q"/>
            </a:pPr>
            <a:endParaRPr lang="es-MX" b="1" dirty="0">
              <a:solidFill>
                <a:schemeClr val="tx1"/>
              </a:solidFill>
            </a:endParaRPr>
          </a:p>
          <a:p>
            <a:pPr>
              <a:buFont typeface="Wingdings" panose="05000000000000000000" pitchFamily="2" charset="2"/>
              <a:buChar char="q"/>
            </a:pPr>
            <a:r>
              <a:rPr lang="es-MX" b="1" dirty="0">
                <a:solidFill>
                  <a:schemeClr val="tx1"/>
                </a:solidFill>
              </a:rPr>
              <a:t>Pondrá en practica la estrategia en el desarrollo de sus programas futuros?</a:t>
            </a:r>
            <a:endParaRPr lang="es-NI" b="1" dirty="0">
              <a:solidFill>
                <a:schemeClr val="tx1"/>
              </a:solidFill>
            </a:endParaRPr>
          </a:p>
        </p:txBody>
      </p:sp>
      <p:pic>
        <p:nvPicPr>
          <p:cNvPr id="4" name="Picture 2" descr="Concepto De Error En El Código Del Programa Foto de stock y más banco de  imágenes de Mensaje de error - Mensaje de error, Fallo, Fracaso - iStock">
            <a:extLst>
              <a:ext uri="{FF2B5EF4-FFF2-40B4-BE49-F238E27FC236}">
                <a16:creationId xmlns:a16="http://schemas.microsoft.com/office/drawing/2014/main" id="{87522103-4F33-4E42-8F0B-F0E45525569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56901" y="386414"/>
            <a:ext cx="1095311" cy="1132171"/>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050" name="Picture 2" descr="Aprende PYTHON de CERO a EXPERTO | Udemy">
            <a:extLst>
              <a:ext uri="{FF2B5EF4-FFF2-40B4-BE49-F238E27FC236}">
                <a16:creationId xmlns:a16="http://schemas.microsoft.com/office/drawing/2014/main" id="{8903C99E-2EF9-4FB7-A8AB-D78F1B3A4F5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965699" y="4460147"/>
            <a:ext cx="3178175" cy="1788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6666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34D438D-ADC3-4884-AC13-6B44A907CA0A}"/>
              </a:ext>
            </a:extLst>
          </p:cNvPr>
          <p:cNvSpPr>
            <a:spLocks noGrp="1"/>
          </p:cNvSpPr>
          <p:nvPr>
            <p:ph idx="1"/>
          </p:nvPr>
        </p:nvSpPr>
        <p:spPr>
          <a:xfrm>
            <a:off x="2208212" y="203200"/>
            <a:ext cx="8915400" cy="3777622"/>
          </a:xfrm>
        </p:spPr>
        <p:txBody>
          <a:bodyPr/>
          <a:lstStyle/>
          <a:p>
            <a:pPr marL="0" indent="0">
              <a:buNone/>
            </a:pPr>
            <a:r>
              <a:rPr lang="es-MX" sz="2000" b="1" dirty="0">
                <a:solidFill>
                  <a:srgbClr val="FF0000"/>
                </a:solidFill>
              </a:rPr>
              <a:t>Actividad 4: Orientación del trabajo independiente</a:t>
            </a:r>
          </a:p>
          <a:p>
            <a:endParaRPr lang="es-MX" dirty="0"/>
          </a:p>
          <a:p>
            <a:pPr marL="0" indent="0">
              <a:buNone/>
            </a:pPr>
            <a:endParaRPr lang="es-NI" sz="2400" dirty="0"/>
          </a:p>
          <a:p>
            <a:pPr marL="0" indent="0">
              <a:buNone/>
            </a:pPr>
            <a:endParaRPr lang="es-NI" sz="2400" dirty="0"/>
          </a:p>
          <a:p>
            <a:r>
              <a:rPr lang="es-NI" sz="2400" dirty="0"/>
              <a:t>Cuestionario sobre aplicación de la estrategia diseño descendente </a:t>
            </a:r>
          </a:p>
          <a:p>
            <a:pPr marL="0" indent="0">
              <a:buNone/>
            </a:pPr>
            <a:r>
              <a:rPr lang="es-NI" sz="2400" dirty="0"/>
              <a:t>(Trabajo independiente en aula virtual)</a:t>
            </a:r>
          </a:p>
        </p:txBody>
      </p:sp>
      <p:pic>
        <p:nvPicPr>
          <p:cNvPr id="4" name="Picture 2" descr="Concepto De Error En El Código Del Programa Foto de stock y más banco de  imágenes de Mensaje de error - Mensaje de error, Fallo, Fracaso - iStock">
            <a:extLst>
              <a:ext uri="{FF2B5EF4-FFF2-40B4-BE49-F238E27FC236}">
                <a16:creationId xmlns:a16="http://schemas.microsoft.com/office/drawing/2014/main" id="{2EB73EEF-DEC2-49C7-819C-320325A6A8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85489" y="462566"/>
            <a:ext cx="1095311" cy="1132171"/>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5" name="Picture 2" descr="Aprende PYTHON de CERO a EXPERTO | Udemy">
            <a:extLst>
              <a:ext uri="{FF2B5EF4-FFF2-40B4-BE49-F238E27FC236}">
                <a16:creationId xmlns:a16="http://schemas.microsoft.com/office/drawing/2014/main" id="{341B0E47-2947-4BD6-B727-FE89FF3304B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4597399" y="4561747"/>
            <a:ext cx="3178175" cy="1788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1632397"/>
      </p:ext>
    </p:extLst>
  </p:cSld>
  <p:clrMapOvr>
    <a:masterClrMapping/>
  </p:clrMapOvr>
</p:sld>
</file>

<file path=ppt/theme/theme1.xml><?xml version="1.0" encoding="utf-8"?>
<a:theme xmlns:a="http://schemas.openxmlformats.org/drawingml/2006/main" name="Espiral">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docProps/app.xml><?xml version="1.0" encoding="utf-8"?>
<Properties xmlns="http://schemas.openxmlformats.org/officeDocument/2006/extended-properties" xmlns:vt="http://schemas.openxmlformats.org/officeDocument/2006/docPropsVTypes">
  <Template>Wisp</Template>
  <TotalTime>425</TotalTime>
  <Words>377</Words>
  <Application>Microsoft Office PowerPoint</Application>
  <PresentationFormat>Panorámica</PresentationFormat>
  <Paragraphs>48</Paragraphs>
  <Slides>7</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7</vt:i4>
      </vt:variant>
    </vt:vector>
  </HeadingPairs>
  <TitlesOfParts>
    <vt:vector size="15" baseType="lpstr">
      <vt:lpstr>Aptos Display</vt:lpstr>
      <vt:lpstr>Arial</vt:lpstr>
      <vt:lpstr>Calibri</vt:lpstr>
      <vt:lpstr>Century Gothic</vt:lpstr>
      <vt:lpstr>Google Sans</vt:lpstr>
      <vt:lpstr>Wingdings</vt:lpstr>
      <vt:lpstr>Wingdings 3</vt:lpstr>
      <vt:lpstr>Espiral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Marvin Guillermo Chacon Gutierrez</dc:creator>
  <cp:lastModifiedBy>Marvin Guillermo Chacon Gutierrez</cp:lastModifiedBy>
  <cp:revision>37</cp:revision>
  <dcterms:created xsi:type="dcterms:W3CDTF">2025-08-23T23:18:28Z</dcterms:created>
  <dcterms:modified xsi:type="dcterms:W3CDTF">2025-08-24T15:57:08Z</dcterms:modified>
</cp:coreProperties>
</file>