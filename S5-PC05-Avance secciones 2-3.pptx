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85" r:id="rId2"/>
    <p:sldId id="296" r:id="rId3"/>
    <p:sldId id="298" r:id="rId4"/>
    <p:sldId id="289" r:id="rId5"/>
    <p:sldId id="287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159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228600" y="304800"/>
            <a:ext cx="6562080" cy="1313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endParaRPr lang="fr-FR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60464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/>
            </a:lvl1pPr>
          </a:lstStyle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OpenSymbol"/>
            </a:endParaRPr>
          </a:p>
        </p:txBody>
      </p:sp>
    </p:spTree>
    <p:extLst>
      <p:ext uri="{BB962C8B-B14F-4D97-AF65-F5344CB8AC3E}">
        <p14:creationId xmlns:p14="http://schemas.microsoft.com/office/powerpoint/2010/main" val="35504505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body"/>
          </p:nvPr>
        </p:nvSpPr>
        <p:spPr>
          <a:xfrm>
            <a:off x="360" y="0"/>
            <a:ext cx="9143640" cy="6857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title"/>
          </p:nvPr>
        </p:nvSpPr>
        <p:spPr>
          <a:xfrm>
            <a:off x="228600" y="571200"/>
            <a:ext cx="6222600" cy="1313280"/>
          </a:xfrm>
          <a:prstGeom prst="rect">
            <a:avLst/>
          </a:prstGeom>
          <a:noFill/>
          <a:ln w="0">
            <a:noFill/>
          </a:ln>
          <a:effectLst>
            <a:outerShdw blurRad="57240" dist="19080" dir="5400000" rotWithShape="0">
              <a:srgbClr val="FFFFFF">
                <a:alpha val="5000"/>
              </a:srgbClr>
            </a:outerShdw>
          </a:effectLst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47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</p:spTree>
    <p:extLst>
      <p:ext uri="{BB962C8B-B14F-4D97-AF65-F5344CB8AC3E}">
        <p14:creationId xmlns:p14="http://schemas.microsoft.com/office/powerpoint/2010/main" val="772652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indent="0"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32000" indent="-324000" algn="l" defTabSz="914400" rtl="0" eaLnBrk="1" latinLnBrk="0" hangingPunct="1">
        <a:lnSpc>
          <a:spcPct val="90000"/>
        </a:lnSpc>
        <a:spcBef>
          <a:spcPts val="1417"/>
        </a:spcBef>
        <a:buClr>
          <a:srgbClr val="000000"/>
        </a:buClr>
        <a:buSzPct val="45000"/>
        <a:buFont typeface="Wingdings" charset="2"/>
        <a:buChar char="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N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microsoft.com/office/2017/06/relationships/model3d" Target="../media/model3d1.glb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microsoft.com/office/2017/06/relationships/model3d" Target="../media/model3d1.glb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134;p27"/>
          <p:cNvPicPr/>
          <p:nvPr/>
        </p:nvPicPr>
        <p:blipFill>
          <a:blip r:embed="rId2"/>
          <a:srcRect t="5212" b="5204"/>
          <a:stretch/>
        </p:blipFill>
        <p:spPr>
          <a:xfrm flipH="1">
            <a:off x="360" y="0"/>
            <a:ext cx="9143640" cy="6858000"/>
          </a:xfrm>
          <a:prstGeom prst="rect">
            <a:avLst/>
          </a:prstGeom>
          <a:ln w="0">
            <a:noFill/>
          </a:ln>
        </p:spPr>
      </p:pic>
      <p:pic>
        <p:nvPicPr>
          <p:cNvPr id="4" name="Imagen 3" descr="Logotipo&#10;&#10;El contenido generado por IA puede ser incorrecto.">
            <a:extLst>
              <a:ext uri="{FF2B5EF4-FFF2-40B4-BE49-F238E27FC236}">
                <a16:creationId xmlns:a16="http://schemas.microsoft.com/office/drawing/2014/main" id="{8D485496-150F-BE67-2BA3-20DCC35888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5273" y="2030078"/>
            <a:ext cx="2821130" cy="282113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C665928B-7376-91D9-B141-22CBE0870854}"/>
              </a:ext>
            </a:extLst>
          </p:cNvPr>
          <p:cNvSpPr txBox="1"/>
          <p:nvPr/>
        </p:nvSpPr>
        <p:spPr>
          <a:xfrm>
            <a:off x="5714031" y="5517972"/>
            <a:ext cx="3116222" cy="600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>
              <a:lnSpc>
                <a:spcPct val="107000"/>
              </a:lnSpc>
            </a:pPr>
            <a:r>
              <a:rPr lang="es-ES" sz="1600" kern="100" dirty="0">
                <a:solidFill>
                  <a:srgbClr val="FFC000"/>
                </a:solidFill>
                <a:latin typeface="Arial"/>
              </a:rPr>
              <a:t>Unidad I: Alcance y principales procesos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A7890D7-5833-4477-B1A5-A13F32E32E21}"/>
              </a:ext>
            </a:extLst>
          </p:cNvPr>
          <p:cNvSpPr txBox="1"/>
          <p:nvPr/>
        </p:nvSpPr>
        <p:spPr>
          <a:xfrm>
            <a:off x="4881294" y="259583"/>
            <a:ext cx="4105109" cy="45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ct val="107000"/>
              </a:lnSpc>
              <a:spcAft>
                <a:spcPts val="800"/>
              </a:spcAft>
            </a:pPr>
            <a:r>
              <a:rPr lang="es-ES" sz="2400" kern="100" dirty="0">
                <a:solidFill>
                  <a:srgbClr val="FFC000"/>
                </a:solidFill>
                <a:latin typeface="Arial"/>
              </a:rPr>
              <a:t>Proyecto Integrador</a:t>
            </a:r>
            <a:endParaRPr lang="es-NI" sz="2400" kern="100" dirty="0">
              <a:solidFill>
                <a:srgbClr val="FFC000"/>
              </a:solidFill>
              <a:latin typeface="Arial"/>
            </a:endParaRP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" name="Modelo 3D 1" descr="Reloj de cuco">
                <a:extLst>
                  <a:ext uri="{FF2B5EF4-FFF2-40B4-BE49-F238E27FC236}">
                    <a16:creationId xmlns:a16="http://schemas.microsoft.com/office/drawing/2014/main" id="{1B09D2E6-42C4-8226-C1A4-73020EAC3EB7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780525" y="3892533"/>
              <a:ext cx="1944533" cy="1142193"/>
            </p:xfrm>
            <a:graphic>
              <a:graphicData uri="http://schemas.microsoft.com/office/drawing/2017/model3d">
                <am3d:model3d r:embed="rId4">
                  <am3d:spPr>
                    <a:xfrm>
                      <a:off x="0" y="0"/>
                      <a:ext cx="1944533" cy="1142193"/>
                    </a:xfrm>
                    <a:prstGeom prst="rect">
                      <a:avLst/>
                    </a:prstGeom>
                  </am3d:spPr>
                  <am3d:camera>
                    <am3d:pos x="0" y="0" z="5315667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68609" d="1000000"/>
                    <am3d:preTrans dx="16611" dy="-4799618" dz="-18001291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5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13266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3465495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" name="Modelo 3D 1" descr="Reloj de cuco">
                <a:extLst>
                  <a:ext uri="{FF2B5EF4-FFF2-40B4-BE49-F238E27FC236}">
                    <a16:creationId xmlns:a16="http://schemas.microsoft.com/office/drawing/2014/main" id="{1B09D2E6-42C4-8226-C1A4-73020EAC3EB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80525" y="3892533"/>
                <a:ext cx="1944533" cy="1142193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0" presetClass="emph" presetSubtype="1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3267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embedded1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174F4F-97B8-C3A4-0F57-90BF5B632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202382CF-3FA1-E4F9-5857-4CACA93662A0}"/>
              </a:ext>
            </a:extLst>
          </p:cNvPr>
          <p:cNvSpPr txBox="1"/>
          <p:nvPr/>
        </p:nvSpPr>
        <p:spPr>
          <a:xfrm>
            <a:off x="335280" y="362898"/>
            <a:ext cx="8290560" cy="36744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NI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Actividad-1: aplique la metodología de diseño Top-Down a su Proyecto.</a:t>
            </a:r>
            <a:endParaRPr lang="es-NI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NI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 orienta a los equipos que apliquen a su Proyecto la metodología Top-Down desarrollada en la clase de Programación Estructurada</a:t>
            </a:r>
            <a:r>
              <a:rPr lang="es-NI" sz="2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NI" sz="2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 deben aplicar los 4 pasos vistos en clases y generar tanto el diagrama general de funciones como la matriz de resumen de las interdependencias funcionales.</a:t>
            </a:r>
            <a:endParaRPr lang="es-NI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17608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7A61E1-5422-3AE6-2E88-DDBD0F689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97E56659-336B-A0EB-BA9D-EB25CF8D28B2}"/>
              </a:ext>
            </a:extLst>
          </p:cNvPr>
          <p:cNvSpPr txBox="1"/>
          <p:nvPr/>
        </p:nvSpPr>
        <p:spPr>
          <a:xfrm>
            <a:off x="294640" y="119058"/>
            <a:ext cx="8483600" cy="47464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NI" sz="2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Actividad-2: crear un diagrama de Gantt considerando la integrando las funcionalidades resultado de la planificación de la metodología TD a las siguientes tareas: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endParaRPr lang="es-NI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endParaRPr lang="es-NI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NI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Definición de requisitos y casos de uso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NI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Diseño de arquitectura y prototipos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NI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Configuración del entorno y repositorio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NI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Diseño e implementación de clases/</a:t>
            </a:r>
            <a:r>
              <a:rPr lang="es-NI" sz="16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models</a:t>
            </a:r>
            <a:endParaRPr lang="es-NI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NI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Implementación de persistencia (archivos/BD)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NI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Implementación de CRUD completo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endParaRPr lang="es-NI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17E66CD-27C5-A17B-784B-4E0297AB5589}"/>
              </a:ext>
            </a:extLst>
          </p:cNvPr>
          <p:cNvSpPr txBox="1"/>
          <p:nvPr/>
        </p:nvSpPr>
        <p:spPr>
          <a:xfrm>
            <a:off x="4536440" y="1998658"/>
            <a:ext cx="4480560" cy="3447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NI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Reglas de negocio y validaciones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NI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Diseño e implementación de menú/interfaz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NI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Integración de UI con lógica de negocio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NI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Pruebas unitarias (</a:t>
            </a:r>
            <a:r>
              <a:rPr lang="es-NI" sz="16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pytest</a:t>
            </a:r>
            <a:r>
              <a:rPr lang="es-NI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/</a:t>
            </a:r>
            <a:r>
              <a:rPr lang="es-NI" sz="16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unittest</a:t>
            </a:r>
            <a:r>
              <a:rPr lang="es-NI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NI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Pruebas de integración y corrección de bugs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NI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Pruebas de usuario (UAT) y </a:t>
            </a:r>
            <a:r>
              <a:rPr lang="es-NI" sz="16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feedback</a:t>
            </a:r>
            <a:endParaRPr lang="es-NI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NI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Documentación técnica (</a:t>
            </a:r>
            <a:r>
              <a:rPr lang="es-NI" sz="16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docstrings</a:t>
            </a:r>
            <a:r>
              <a:rPr lang="es-NI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README)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NI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Manual de usuario y guía de instalación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NI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Empaquetado, presentación final y entrega</a:t>
            </a:r>
            <a:endParaRPr lang="es-NI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75230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E6C533-898D-9BA3-5923-D53BFBC1D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79891E6E-3CD9-6CAB-9E2E-3C2DB5830B9D}"/>
              </a:ext>
            </a:extLst>
          </p:cNvPr>
          <p:cNvSpPr txBox="1"/>
          <p:nvPr/>
        </p:nvSpPr>
        <p:spPr>
          <a:xfrm>
            <a:off x="589280" y="1836098"/>
            <a:ext cx="8290560" cy="3571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NI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Actividad trabajo autónomo: Lectura Modelo de alcance y principales procesos.</a:t>
            </a:r>
            <a:endParaRPr lang="es-NI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NI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 orienta a los estudiantes que cada equipo baje de </a:t>
            </a:r>
            <a:r>
              <a:rPr lang="es-NI" sz="2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la plataforma Modelo de Entrega de Proyecto Integrador y lean detenidamente el tema 2 y 3, alcance del sistema y principales procesos respectivamente. Cada grupo debe ir redactando estos acápites de acuerdo al avance que van teniendo con el desarrollo de su proyecto integrador.</a:t>
            </a:r>
            <a:endParaRPr lang="es-NI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34975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C1645-B839-D50A-B574-826D4265D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134;p27">
            <a:extLst>
              <a:ext uri="{FF2B5EF4-FFF2-40B4-BE49-F238E27FC236}">
                <a16:creationId xmlns:a16="http://schemas.microsoft.com/office/drawing/2014/main" id="{D778601A-27E3-4101-7819-82FCDE711AA3}"/>
              </a:ext>
            </a:extLst>
          </p:cNvPr>
          <p:cNvPicPr/>
          <p:nvPr/>
        </p:nvPicPr>
        <p:blipFill>
          <a:blip r:embed="rId2"/>
          <a:srcRect t="5212" b="5204"/>
          <a:stretch/>
        </p:blipFill>
        <p:spPr>
          <a:xfrm flipH="1">
            <a:off x="360" y="0"/>
            <a:ext cx="9143640" cy="6858000"/>
          </a:xfrm>
          <a:prstGeom prst="rect">
            <a:avLst/>
          </a:prstGeom>
          <a:ln w="0">
            <a:noFill/>
          </a:ln>
        </p:spPr>
      </p:pic>
      <p:pic>
        <p:nvPicPr>
          <p:cNvPr id="4" name="Imagen 3" descr="Logotipo&#10;&#10;El contenido generado por IA puede ser incorrecto.">
            <a:extLst>
              <a:ext uri="{FF2B5EF4-FFF2-40B4-BE49-F238E27FC236}">
                <a16:creationId xmlns:a16="http://schemas.microsoft.com/office/drawing/2014/main" id="{06F0B807-0569-06DB-8AC2-308D4DD2C7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5273" y="2030078"/>
            <a:ext cx="2821130" cy="282113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" name="Modelo 3D 1" descr="Reloj de cuco">
                <a:extLst>
                  <a:ext uri="{FF2B5EF4-FFF2-40B4-BE49-F238E27FC236}">
                    <a16:creationId xmlns:a16="http://schemas.microsoft.com/office/drawing/2014/main" id="{F4885100-DCFA-966A-13FB-3EABE80A53A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716016" y="3887560"/>
              <a:ext cx="2030489" cy="1192682"/>
            </p:xfrm>
            <a:graphic>
              <a:graphicData uri="http://schemas.microsoft.com/office/drawing/2017/model3d">
                <am3d:model3d r:embed="rId4">
                  <am3d:spPr>
                    <a:xfrm>
                      <a:off x="0" y="0"/>
                      <a:ext cx="2030489" cy="1192682"/>
                    </a:xfrm>
                    <a:prstGeom prst="rect">
                      <a:avLst/>
                    </a:prstGeom>
                  </am3d:spPr>
                  <am3d:camera>
                    <am3d:pos x="0" y="0" z="5315667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68609" d="1000000"/>
                    <am3d:preTrans dx="16611" dy="-4799618" dz="-18001291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5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13266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361868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" name="Modelo 3D 1" descr="Reloj de cuco">
                <a:extLst>
                  <a:ext uri="{FF2B5EF4-FFF2-40B4-BE49-F238E27FC236}">
                    <a16:creationId xmlns:a16="http://schemas.microsoft.com/office/drawing/2014/main" id="{F4885100-DCFA-966A-13FB-3EABE80A53A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16016" y="3887560"/>
                <a:ext cx="2030489" cy="1192682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18813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0" presetClass="emph" presetSubtype="1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3267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embedded1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ch Startup by Slidesgo">
  <a:themeElements>
    <a:clrScheme name="Simple Light">
      <a:dk1>
        <a:srgbClr val="000000"/>
      </a:dk1>
      <a:lt1>
        <a:srgbClr val="85D3F2"/>
      </a:lt1>
      <a:dk2>
        <a:srgbClr val="BBF2ED"/>
      </a:dk2>
      <a:lt2>
        <a:srgbClr val="CDDAFA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945</TotalTime>
  <Words>260</Words>
  <Application>Microsoft Office PowerPoint</Application>
  <PresentationFormat>Presentación en pantalla (4:3)</PresentationFormat>
  <Paragraphs>25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1" baseType="lpstr">
      <vt:lpstr>Aptos</vt:lpstr>
      <vt:lpstr>Arial</vt:lpstr>
      <vt:lpstr>OpenSymbol</vt:lpstr>
      <vt:lpstr>Symbol</vt:lpstr>
      <vt:lpstr>Wingdings</vt:lpstr>
      <vt:lpstr>Tech Startup by Slidesgo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ERNESTO A. ESPINOZA M.</cp:lastModifiedBy>
  <cp:revision>41</cp:revision>
  <dcterms:created xsi:type="dcterms:W3CDTF">2013-01-27T09:14:16Z</dcterms:created>
  <dcterms:modified xsi:type="dcterms:W3CDTF">2026-08-28T15:04:35Z</dcterms:modified>
  <cp:category/>
</cp:coreProperties>
</file>