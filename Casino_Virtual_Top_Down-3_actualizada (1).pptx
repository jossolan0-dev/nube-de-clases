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9"/>
    <p:sldId id="259" r:id="rId10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tableStyles" Target="tableStyle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8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8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4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822960"/>
          </a:xfrm>
          <a:prstGeom prst="rect"/>
          <a:solidFill>
            <a:srgbClr val="14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502920" rtlCol="0"/>
          <a:p>
            <a:pPr algn="l">
              <a:defRPr b="1" sz="2800">
                <a:solidFill>
                  <a:srgbClr val="FFFFFF"/>
                </a:solidFill>
                <a:latin typeface="Aptos Display"/>
              </a:defRPr>
            </a:pPr>
            <a:r>
              <a:t>Sistema de Casino Virtual</a:t>
            </a:r>
          </a:p>
        </p:txBody>
      </p:sp>
      <p:sp>
        <p:nvSpPr>
          <p:cNvPr id="1048585" name="TextBox 2"/>
          <p:cNvSpPr txBox="1"/>
          <p:nvPr/>
        </p:nvSpPr>
        <p:spPr>
          <a:xfrm>
            <a:off x="530352" y="850392"/>
            <a:ext cx="3448070" cy="256540"/>
          </a:xfrm>
          <a:prstGeom prst="rect"/>
          <a:noFill/>
        </p:spPr>
        <p:txBody>
          <a:bodyPr wrap="none">
            <a:spAutoFit/>
          </a:bodyPr>
          <a:p>
            <a:pPr>
              <a:defRPr sz="1100">
                <a:solidFill>
                  <a:srgbClr val="225B8C"/>
                </a:solidFill>
                <a:latin typeface="Aptos"/>
              </a:defRPr>
            </a:pPr>
            <a:r>
              <a:t>Resumen del proyecto • Programación Estructurada</a:t>
            </a:r>
          </a:p>
        </p:txBody>
      </p:sp>
      <p:sp>
        <p:nvSpPr>
          <p:cNvPr id="1048586" name="Rounded Rectangle 3"/>
          <p:cNvSpPr/>
          <p:nvPr/>
        </p:nvSpPr>
        <p:spPr>
          <a:xfrm>
            <a:off x="548640" y="1234440"/>
            <a:ext cx="3657600" cy="1874519"/>
          </a:xfrm>
          <a:prstGeom prst="roundRect"/>
          <a:solidFill>
            <a:srgbClr val="02A5E3"/>
          </a:solidFill>
          <a:ln w="1524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91440" lIns="164592" rIns="164592" rtlCol="0" tIns="109728"/>
          <a:p>
            <a:pPr algn="ctr">
              <a:defRPr b="1" sz="1600">
                <a:solidFill>
                  <a:srgbClr val="142B46"/>
                </a:solidFill>
                <a:latin typeface="Aptos"/>
              </a:defRPr>
            </a:pPr>
            <a:r>
              <a:t>Propósito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Aplicación de consola que simula un casino virtual.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Administra usuarios, saldos, apuestas, resultados y estadísticas.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Mantiene información para consultas posteriores.</a:t>
            </a:r>
          </a:p>
        </p:txBody>
      </p:sp>
      <p:sp>
        <p:nvSpPr>
          <p:cNvPr id="1048587" name="Rounded Rectangle 4"/>
          <p:cNvSpPr/>
          <p:nvPr/>
        </p:nvSpPr>
        <p:spPr>
          <a:xfrm>
            <a:off x="4434840" y="1234440"/>
            <a:ext cx="3474720" cy="1874519"/>
          </a:xfrm>
          <a:prstGeom prst="roundRect"/>
          <a:solidFill>
            <a:srgbClr val="02A5E3"/>
          </a:solidFill>
          <a:ln w="1524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91440" lIns="164592" rIns="164592" rtlCol="0" tIns="109728"/>
          <a:p>
            <a:pPr algn="ctr">
              <a:defRPr b="1" sz="1600">
                <a:solidFill>
                  <a:srgbClr val="337A5F"/>
                </a:solidFill>
                <a:latin typeface="Aptos"/>
              </a:defRPr>
            </a:pPr>
            <a:r>
              <a:t>Alcance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Registro e inicio de sesión.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Depósitos y retiros validados.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Cinco juegos de azar.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Historial, perfil y tabla de líderes.</a:t>
            </a:r>
          </a:p>
        </p:txBody>
      </p:sp>
      <p:sp>
        <p:nvSpPr>
          <p:cNvPr id="1048588" name="Rounded Rectangle 5"/>
          <p:cNvSpPr/>
          <p:nvPr/>
        </p:nvSpPr>
        <p:spPr>
          <a:xfrm>
            <a:off x="8138160" y="1234440"/>
            <a:ext cx="3502152" cy="1874519"/>
          </a:xfrm>
          <a:prstGeom prst="roundRect"/>
          <a:solidFill>
            <a:srgbClr val="02A5E3"/>
          </a:solidFill>
          <a:ln w="15240">
            <a:solidFill>
              <a:srgbClr val="CA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91440" lIns="164592" rIns="164592" rtlCol="0" tIns="109728"/>
          <a:p>
            <a:pPr algn="ctr">
              <a:defRPr b="1" sz="1600">
                <a:solidFill>
                  <a:srgbClr val="BE8928"/>
                </a:solidFill>
                <a:latin typeface="Aptos"/>
              </a:defRPr>
            </a:pPr>
            <a:r>
              <a:t>Enfoque técnico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Interfaz por menús de texto.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Diseño modular mediante Top-Down.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Persistencia prevista en archivos JSON.</a:t>
            </a:r>
          </a:p>
          <a:p>
            <a:pPr>
              <a:spcBef>
                <a:spcPts val="400"/>
              </a:spcBef>
              <a:defRPr sz="1250">
                <a:solidFill>
                  <a:srgbClr val="232A32"/>
                </a:solidFill>
                <a:latin typeface="Aptos"/>
              </a:defRPr>
            </a:pPr>
            <a:r>
              <a:t>Primera versión centrada en lógica de negocio.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594360" y="3401568"/>
            <a:ext cx="2545080" cy="358140"/>
          </a:xfrm>
          <a:prstGeom prst="rect"/>
          <a:noFill/>
        </p:spPr>
        <p:txBody>
          <a:bodyPr wrap="none">
            <a:spAutoFit/>
          </a:bodyPr>
          <a:p>
            <a:pPr>
              <a:defRPr b="1" sz="1800">
                <a:solidFill>
                  <a:srgbClr val="142B46"/>
                </a:solidFill>
              </a:defRPr>
            </a:pPr>
            <a:r>
              <a:t>Flujo funcional principal</a:t>
            </a:r>
          </a:p>
        </p:txBody>
      </p:sp>
      <p:sp>
        <p:nvSpPr>
          <p:cNvPr id="1048590" name="Rounded Rectangle 7"/>
          <p:cNvSpPr/>
          <p:nvPr/>
        </p:nvSpPr>
        <p:spPr>
          <a:xfrm>
            <a:off x="594360" y="3931920"/>
            <a:ext cx="1417320" cy="914400"/>
          </a:xfrm>
          <a:prstGeom prst="roundRect"/>
          <a:solidFill>
            <a:srgbClr val="330066"/>
          </a:solidFill>
          <a:ln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142B46"/>
                </a:solidFill>
              </a:defRPr>
            </a:pPr>
            <a:r>
              <a:t>Registrar / iniciar sesión</a:t>
            </a:r>
          </a:p>
        </p:txBody>
      </p:sp>
      <p:sp>
        <p:nvSpPr>
          <p:cNvPr id="1048591" name="Chevron 8"/>
          <p:cNvSpPr/>
          <p:nvPr/>
        </p:nvSpPr>
        <p:spPr>
          <a:xfrm>
            <a:off x="2057400" y="4215384"/>
            <a:ext cx="256032" cy="347472"/>
          </a:xfrm>
          <a:prstGeom prst="chevron"/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Rounded Rectangle 9"/>
          <p:cNvSpPr/>
          <p:nvPr/>
        </p:nvSpPr>
        <p:spPr>
          <a:xfrm>
            <a:off x="2331720" y="3931920"/>
            <a:ext cx="1417320" cy="914400"/>
          </a:xfrm>
          <a:prstGeom prst="roundRect"/>
          <a:solidFill>
            <a:srgbClr val="330066"/>
          </a:solidFill>
          <a:ln>
            <a:solidFill>
              <a:srgbClr val="22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142B46"/>
                </a:solidFill>
              </a:defRPr>
            </a:pPr>
            <a:r>
              <a:t>Depositar / retirar</a:t>
            </a:r>
          </a:p>
        </p:txBody>
      </p:sp>
      <p:sp>
        <p:nvSpPr>
          <p:cNvPr id="1048593" name="Chevron 10"/>
          <p:cNvSpPr/>
          <p:nvPr/>
        </p:nvSpPr>
        <p:spPr>
          <a:xfrm>
            <a:off x="3794759" y="4215384"/>
            <a:ext cx="256032" cy="347472"/>
          </a:xfrm>
          <a:prstGeom prst="chevron"/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Rounded Rectangle 11"/>
          <p:cNvSpPr/>
          <p:nvPr/>
        </p:nvSpPr>
        <p:spPr>
          <a:xfrm>
            <a:off x="4069079" y="3931920"/>
            <a:ext cx="1325880" cy="914400"/>
          </a:xfrm>
          <a:prstGeom prst="roundRect"/>
          <a:solidFill>
            <a:srgbClr val="225B8C"/>
          </a:solidFill>
          <a:ln>
            <a:solidFill>
              <a:srgbClr val="22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Seleccionar juego</a:t>
            </a:r>
          </a:p>
        </p:txBody>
      </p:sp>
      <p:sp>
        <p:nvSpPr>
          <p:cNvPr id="1048595" name="Chevron 12"/>
          <p:cNvSpPr/>
          <p:nvPr/>
        </p:nvSpPr>
        <p:spPr>
          <a:xfrm>
            <a:off x="5440679" y="4215384"/>
            <a:ext cx="256032" cy="347472"/>
          </a:xfrm>
          <a:prstGeom prst="chevron"/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6" name="Rounded Rectangle 13"/>
          <p:cNvSpPr/>
          <p:nvPr/>
        </p:nvSpPr>
        <p:spPr>
          <a:xfrm>
            <a:off x="5714999" y="3931920"/>
            <a:ext cx="1234440" cy="914400"/>
          </a:xfrm>
          <a:prstGeom prst="roundRect"/>
          <a:solidFill>
            <a:srgbClr val="330066"/>
          </a:solidFill>
          <a:ln>
            <a:solidFill>
              <a:srgbClr val="22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142B46"/>
                </a:solidFill>
              </a:defRPr>
            </a:pPr>
            <a:r>
              <a:t>Validar apuesta</a:t>
            </a:r>
          </a:p>
        </p:txBody>
      </p:sp>
      <p:sp>
        <p:nvSpPr>
          <p:cNvPr id="1048597" name="Chevron 14"/>
          <p:cNvSpPr/>
          <p:nvPr/>
        </p:nvSpPr>
        <p:spPr>
          <a:xfrm>
            <a:off x="6995159" y="4215384"/>
            <a:ext cx="256032" cy="347472"/>
          </a:xfrm>
          <a:prstGeom prst="chevron"/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Rounded Rectangle 15"/>
          <p:cNvSpPr/>
          <p:nvPr/>
        </p:nvSpPr>
        <p:spPr>
          <a:xfrm>
            <a:off x="7269479" y="3931920"/>
            <a:ext cx="1325880" cy="914400"/>
          </a:xfrm>
          <a:prstGeom prst="roundRect"/>
          <a:solidFill>
            <a:srgbClr val="225B8C"/>
          </a:solidFill>
          <a:ln>
            <a:solidFill>
              <a:srgbClr val="22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Ejecutar motor</a:t>
            </a:r>
          </a:p>
        </p:txBody>
      </p:sp>
      <p:sp>
        <p:nvSpPr>
          <p:cNvPr id="1048599" name="Chevron 16"/>
          <p:cNvSpPr/>
          <p:nvPr/>
        </p:nvSpPr>
        <p:spPr>
          <a:xfrm>
            <a:off x="8641080" y="4215384"/>
            <a:ext cx="256032" cy="347472"/>
          </a:xfrm>
          <a:prstGeom prst="chevron"/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0" name="Rounded Rectangle 17"/>
          <p:cNvSpPr/>
          <p:nvPr/>
        </p:nvSpPr>
        <p:spPr>
          <a:xfrm>
            <a:off x="8915400" y="3931920"/>
            <a:ext cx="1691640" cy="914400"/>
          </a:xfrm>
          <a:prstGeom prst="roundRect"/>
          <a:solidFill>
            <a:srgbClr val="330066"/>
          </a:solidFill>
          <a:ln>
            <a:solidFill>
              <a:srgbClr val="22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142B46"/>
                </a:solidFill>
              </a:defRPr>
            </a:pPr>
            <a:r>
              <a:t>Actualizar saldo y récords</a:t>
            </a:r>
          </a:p>
        </p:txBody>
      </p:sp>
      <p:sp>
        <p:nvSpPr>
          <p:cNvPr id="1048601" name="Chevron 18"/>
          <p:cNvSpPr/>
          <p:nvPr/>
        </p:nvSpPr>
        <p:spPr>
          <a:xfrm>
            <a:off x="10652760" y="4215384"/>
            <a:ext cx="256032" cy="347472"/>
          </a:xfrm>
          <a:prstGeom prst="chevron"/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Rounded Rectangle 19"/>
          <p:cNvSpPr/>
          <p:nvPr/>
        </p:nvSpPr>
        <p:spPr>
          <a:xfrm>
            <a:off x="10927080" y="3931920"/>
            <a:ext cx="1325880" cy="914400"/>
          </a:xfrm>
          <a:prstGeom prst="roundRect"/>
          <a:solidFill>
            <a:srgbClr val="330066"/>
          </a:solidFill>
          <a:ln>
            <a:solidFill>
              <a:srgbClr val="22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50">
                <a:solidFill>
                  <a:srgbClr val="142B46"/>
                </a:solidFill>
              </a:defRPr>
            </a:pPr>
            <a:r>
              <a:t>Mostrar resultado</a:t>
            </a:r>
          </a:p>
        </p:txBody>
      </p:sp>
      <p:sp>
        <p:nvSpPr>
          <p:cNvPr id="1048603" name="TextBox 20"/>
          <p:cNvSpPr txBox="1"/>
          <p:nvPr/>
        </p:nvSpPr>
        <p:spPr>
          <a:xfrm>
            <a:off x="594360" y="5212080"/>
            <a:ext cx="10796062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1500">
                <a:solidFill>
                  <a:srgbClr val="225B8C"/>
                </a:solidFill>
              </a:defRPr>
            </a:pPr>
            <a:r>
              <a:t>Metodología Top-Down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El problema general se descompone progresivamente en módulos y funciones más pequeñas para facilitar el desarrollo, validación y mantenimiento.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822960"/>
          </a:xfrm>
          <a:prstGeom prst="rect"/>
          <a:solidFill>
            <a:srgbClr val="14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lIns="502920" rtlCol="0"/>
          <a:p>
            <a:pPr algn="l">
              <a:defRPr b="1" sz="2800">
                <a:solidFill>
                  <a:srgbClr val="FFFFFF"/>
                </a:solidFill>
                <a:latin typeface="Aptos Display"/>
              </a:defRPr>
            </a:pPr>
            <a:r>
              <a:t>Diagrama de diseño Top-Down</a:t>
            </a:r>
          </a:p>
        </p:txBody>
      </p:sp>
      <p:sp>
        <p:nvSpPr>
          <p:cNvPr id="1048605" name="TextBox 2"/>
          <p:cNvSpPr txBox="1"/>
          <p:nvPr/>
        </p:nvSpPr>
        <p:spPr>
          <a:xfrm>
            <a:off x="530352" y="850392"/>
            <a:ext cx="3827185" cy="256540"/>
          </a:xfrm>
          <a:prstGeom prst="rect"/>
          <a:noFill/>
        </p:spPr>
        <p:txBody>
          <a:bodyPr wrap="none">
            <a:spAutoFit/>
          </a:bodyPr>
          <a:p>
            <a:pPr>
              <a:defRPr sz="1100">
                <a:solidFill>
                  <a:srgbClr val="225B8C"/>
                </a:solidFill>
                <a:latin typeface="Aptos"/>
              </a:defRPr>
            </a:pPr>
            <a:r>
              <a:t>Descomposición jerárquica del Sistema de Casino Virtual</a:t>
            </a:r>
          </a:p>
        </p:txBody>
      </p:sp>
      <p:sp>
        <p:nvSpPr>
          <p:cNvPr id="1048606" name="Rounded Rectangle 3"/>
          <p:cNvSpPr/>
          <p:nvPr/>
        </p:nvSpPr>
        <p:spPr>
          <a:xfrm>
            <a:off x="4572000" y="1078992"/>
            <a:ext cx="3063240" cy="566928"/>
          </a:xfrm>
          <a:prstGeom prst="roundRect"/>
          <a:solidFill>
            <a:srgbClr val="142B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400">
                <a:solidFill>
                  <a:srgbClr val="FFFFFF"/>
                </a:solidFill>
                <a:latin typeface="Aptos"/>
              </a:defRPr>
            </a:pPr>
            <a:r>
              <a:t>SISTEMA DE CASINO VIRTUAL</a:t>
            </a:r>
          </a:p>
        </p:txBody>
      </p:sp>
      <p:sp>
        <p:nvSpPr>
          <p:cNvPr id="1048607" name="Rounded Rectangle 4"/>
          <p:cNvSpPr/>
          <p:nvPr/>
        </p:nvSpPr>
        <p:spPr>
          <a:xfrm>
            <a:off x="502920" y="2148840"/>
            <a:ext cx="2743200" cy="621792"/>
          </a:xfrm>
          <a:prstGeom prst="roundRect"/>
          <a:solidFill>
            <a:srgbClr val="225B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A. Módulo de Entrada</a:t>
            </a:r>
          </a:p>
        </p:txBody>
      </p:sp>
      <p:sp>
        <p:nvSpPr>
          <p:cNvPr id="1048608" name="Rounded Rectangle 5"/>
          <p:cNvSpPr/>
          <p:nvPr/>
        </p:nvSpPr>
        <p:spPr>
          <a:xfrm>
            <a:off x="4709160" y="2148840"/>
            <a:ext cx="2743200" cy="621792"/>
          </a:xfrm>
          <a:prstGeom prst="roundRect"/>
          <a:solidFill>
            <a:srgbClr val="337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B. Módulo de Procesamiento</a:t>
            </a:r>
          </a:p>
        </p:txBody>
      </p:sp>
      <p:sp>
        <p:nvSpPr>
          <p:cNvPr id="1048609" name="Rounded Rectangle 6"/>
          <p:cNvSpPr/>
          <p:nvPr/>
        </p:nvSpPr>
        <p:spPr>
          <a:xfrm>
            <a:off x="8915400" y="2148840"/>
            <a:ext cx="2743200" cy="621792"/>
          </a:xfrm>
          <a:prstGeom prst="roundRect"/>
          <a:solidFill>
            <a:srgbClr val="BE892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300">
                <a:solidFill>
                  <a:srgbClr val="FFFFFF"/>
                </a:solidFill>
                <a:latin typeface="Aptos"/>
              </a:defRPr>
            </a:pPr>
            <a:r>
              <a:t>C. Módulo de Salida</a:t>
            </a:r>
          </a:p>
        </p:txBody>
      </p:sp>
      <p:cxnSp>
        <p:nvCxnSpPr>
          <p:cNvPr id="3145728" name="Connector 7"/>
          <p:cNvCxnSpPr>
            <a:cxnSpLocks/>
          </p:cNvCxnSpPr>
          <p:nvPr/>
        </p:nvCxnSpPr>
        <p:spPr>
          <a:xfrm flipH="1">
            <a:off x="0" y="1645920"/>
            <a:ext cx="0" cy="502920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29" name="Connector 8"/>
          <p:cNvCxnSpPr>
            <a:cxnSpLocks/>
          </p:cNvCxnSpPr>
          <p:nvPr/>
        </p:nvCxnSpPr>
        <p:spPr>
          <a:xfrm flipH="1">
            <a:off x="0" y="1645920"/>
            <a:ext cx="0" cy="502920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0" name="Connector 9"/>
          <p:cNvCxnSpPr>
            <a:cxnSpLocks/>
          </p:cNvCxnSpPr>
          <p:nvPr/>
        </p:nvCxnSpPr>
        <p:spPr>
          <a:xfrm>
            <a:off x="0" y="1645920"/>
            <a:ext cx="0" cy="502920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0" name="Rounded Rectangle 10"/>
          <p:cNvSpPr/>
          <p:nvPr/>
        </p:nvSpPr>
        <p:spPr>
          <a:xfrm>
            <a:off x="320040" y="3337560"/>
            <a:ext cx="1645920" cy="640080"/>
          </a:xfrm>
          <a:prstGeom prst="roundRect"/>
          <a:solidFill>
            <a:srgbClr val="4A74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A.1</a:t>
            </a:r>
            <a:br/>
            <a:r>
              <a:t>Registro / Login</a:t>
            </a:r>
          </a:p>
        </p:txBody>
      </p:sp>
      <p:sp>
        <p:nvSpPr>
          <p:cNvPr id="1048611" name="Rounded Rectangle 11"/>
          <p:cNvSpPr/>
          <p:nvPr/>
        </p:nvSpPr>
        <p:spPr>
          <a:xfrm>
            <a:off x="2057400" y="3337560"/>
            <a:ext cx="1417320" cy="640080"/>
          </a:xfrm>
          <a:prstGeom prst="roundRect"/>
          <a:solidFill>
            <a:srgbClr val="4A74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A.2</a:t>
            </a:r>
            <a:br/>
            <a:r>
              <a:t>Depósitos / Retiros</a:t>
            </a:r>
          </a:p>
        </p:txBody>
      </p:sp>
      <p:sp>
        <p:nvSpPr>
          <p:cNvPr id="1048612" name="Rounded Rectangle 12"/>
          <p:cNvSpPr/>
          <p:nvPr/>
        </p:nvSpPr>
        <p:spPr>
          <a:xfrm>
            <a:off x="3566160" y="3337560"/>
            <a:ext cx="1417320" cy="640080"/>
          </a:xfrm>
          <a:prstGeom prst="roundRect"/>
          <a:solidFill>
            <a:srgbClr val="4A749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A.3</a:t>
            </a:r>
            <a:br/>
            <a:r>
              <a:t>Apuestas</a:t>
            </a:r>
          </a:p>
        </p:txBody>
      </p:sp>
      <p:cxnSp>
        <p:nvCxnSpPr>
          <p:cNvPr id="3145731" name="Connector 13"/>
          <p:cNvCxnSpPr>
            <a:cxnSpLocks/>
          </p:cNvCxnSpPr>
          <p:nvPr/>
        </p:nvCxnSpPr>
        <p:spPr>
          <a:xfrm flipH="1"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2" name="Connector 14"/>
          <p:cNvCxnSpPr>
            <a:cxnSpLocks/>
          </p:cNvCxnSpPr>
          <p:nvPr/>
        </p:nvCxnSpPr>
        <p:spPr>
          <a:xfrm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 15"/>
          <p:cNvCxnSpPr>
            <a:cxnSpLocks/>
          </p:cNvCxnSpPr>
          <p:nvPr/>
        </p:nvCxnSpPr>
        <p:spPr>
          <a:xfrm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3" name="Rounded Rectangle 16"/>
          <p:cNvSpPr/>
          <p:nvPr/>
        </p:nvSpPr>
        <p:spPr>
          <a:xfrm>
            <a:off x="4800600" y="3337560"/>
            <a:ext cx="1417320" cy="640080"/>
          </a:xfrm>
          <a:prstGeom prst="roundRect"/>
          <a:solidFill>
            <a:srgbClr val="4C8B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B.1</a:t>
            </a:r>
            <a:br/>
            <a:r>
              <a:t>Motores de juego</a:t>
            </a:r>
          </a:p>
        </p:txBody>
      </p:sp>
      <p:sp>
        <p:nvSpPr>
          <p:cNvPr id="1048614" name="Rounded Rectangle 17"/>
          <p:cNvSpPr/>
          <p:nvPr/>
        </p:nvSpPr>
        <p:spPr>
          <a:xfrm>
            <a:off x="6309360" y="3337560"/>
            <a:ext cx="1417320" cy="640080"/>
          </a:xfrm>
          <a:prstGeom prst="roundRect"/>
          <a:solidFill>
            <a:srgbClr val="4C8B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B.2</a:t>
            </a:r>
            <a:br/>
            <a:r>
              <a:t>Control de saldo</a:t>
            </a:r>
          </a:p>
        </p:txBody>
      </p:sp>
      <p:sp>
        <p:nvSpPr>
          <p:cNvPr id="1048615" name="Rounded Rectangle 18"/>
          <p:cNvSpPr/>
          <p:nvPr/>
        </p:nvSpPr>
        <p:spPr>
          <a:xfrm>
            <a:off x="7818120" y="3337560"/>
            <a:ext cx="1417320" cy="640080"/>
          </a:xfrm>
          <a:prstGeom prst="roundRect"/>
          <a:solidFill>
            <a:srgbClr val="4C8B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B.3</a:t>
            </a:r>
            <a:br/>
            <a:r>
              <a:t>Cálculo de récords</a:t>
            </a:r>
          </a:p>
        </p:txBody>
      </p:sp>
      <p:cxnSp>
        <p:nvCxnSpPr>
          <p:cNvPr id="3145734" name="Connector 19"/>
          <p:cNvCxnSpPr>
            <a:cxnSpLocks/>
          </p:cNvCxnSpPr>
          <p:nvPr/>
        </p:nvCxnSpPr>
        <p:spPr>
          <a:xfrm flipH="1"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 20"/>
          <p:cNvCxnSpPr>
            <a:cxnSpLocks/>
          </p:cNvCxnSpPr>
          <p:nvPr/>
        </p:nvCxnSpPr>
        <p:spPr>
          <a:xfrm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6" name="Connector 21"/>
          <p:cNvCxnSpPr>
            <a:cxnSpLocks/>
          </p:cNvCxnSpPr>
          <p:nvPr/>
        </p:nvCxnSpPr>
        <p:spPr>
          <a:xfrm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6" name="Rounded Rectangle 22"/>
          <p:cNvSpPr/>
          <p:nvPr/>
        </p:nvSpPr>
        <p:spPr>
          <a:xfrm>
            <a:off x="9098280" y="3337560"/>
            <a:ext cx="1234440" cy="640080"/>
          </a:xfrm>
          <a:prstGeom prst="roundRect"/>
          <a:solidFill>
            <a:srgbClr val="C99B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C.1</a:t>
            </a:r>
            <a:br/>
            <a:r>
              <a:t>Historial</a:t>
            </a:r>
          </a:p>
        </p:txBody>
      </p:sp>
      <p:sp>
        <p:nvSpPr>
          <p:cNvPr id="1048617" name="Rounded Rectangle 23"/>
          <p:cNvSpPr/>
          <p:nvPr/>
        </p:nvSpPr>
        <p:spPr>
          <a:xfrm>
            <a:off x="10424160" y="3337560"/>
            <a:ext cx="1234440" cy="640080"/>
          </a:xfrm>
          <a:prstGeom prst="roundRect"/>
          <a:solidFill>
            <a:srgbClr val="C99B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50">
                <a:solidFill>
                  <a:srgbClr val="FFFFFF"/>
                </a:solidFill>
                <a:latin typeface="Aptos"/>
              </a:defRPr>
            </a:pPr>
            <a:r>
              <a:t>C.2</a:t>
            </a:r>
            <a:br/>
            <a:r>
              <a:t>Perfil / Líderes</a:t>
            </a:r>
          </a:p>
        </p:txBody>
      </p:sp>
      <p:cxnSp>
        <p:nvCxnSpPr>
          <p:cNvPr id="3145737" name="Connector 24"/>
          <p:cNvCxnSpPr>
            <a:cxnSpLocks/>
          </p:cNvCxnSpPr>
          <p:nvPr/>
        </p:nvCxnSpPr>
        <p:spPr>
          <a:xfrm flipH="1"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8" name="Connector 25"/>
          <p:cNvCxnSpPr>
            <a:cxnSpLocks/>
          </p:cNvCxnSpPr>
          <p:nvPr/>
        </p:nvCxnSpPr>
        <p:spPr>
          <a:xfrm>
            <a:off x="0" y="2770632"/>
            <a:ext cx="0" cy="566928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8" name="Rounded Rectangle 26"/>
          <p:cNvSpPr/>
          <p:nvPr/>
        </p:nvSpPr>
        <p:spPr>
          <a:xfrm>
            <a:off x="4343400" y="4709160"/>
            <a:ext cx="2331720" cy="1051560"/>
          </a:xfrm>
          <a:prstGeom prst="roundRect"/>
          <a:solidFill>
            <a:srgbClr val="C0C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00">
                <a:solidFill>
                  <a:srgbClr val="142B46"/>
                </a:solidFill>
                <a:latin typeface="Aptos"/>
              </a:defRPr>
            </a:pPr>
            <a:r>
              <a:t>B.1.1 Tragaperras</a:t>
            </a:r>
            <a:br/>
            <a:r>
              <a:t>B.1.2 Blackjack</a:t>
            </a:r>
            <a:br/>
            <a:r>
              <a:t>B.1.3 Dados</a:t>
            </a:r>
            <a:br/>
            <a:r>
              <a:t>B.1.4 Carrera</a:t>
            </a:r>
            <a:br/>
            <a:r>
              <a:t>B.1.5 Lotería</a:t>
            </a:r>
          </a:p>
        </p:txBody>
      </p:sp>
      <p:sp>
        <p:nvSpPr>
          <p:cNvPr id="1048619" name="Rounded Rectangle 27"/>
          <p:cNvSpPr/>
          <p:nvPr/>
        </p:nvSpPr>
        <p:spPr>
          <a:xfrm>
            <a:off x="6903720" y="4709160"/>
            <a:ext cx="2148840" cy="1051560"/>
          </a:xfrm>
          <a:prstGeom prst="roundRect"/>
          <a:solidFill>
            <a:srgbClr val="C0C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00">
                <a:solidFill>
                  <a:srgbClr val="142B46"/>
                </a:solidFill>
                <a:latin typeface="Aptos"/>
              </a:defRPr>
            </a:pPr>
            <a:r>
              <a:t>Actualizar saldo</a:t>
            </a:r>
            <a:br/>
            <a:r>
              <a:t>Actualizar racha</a:t>
            </a:r>
            <a:br/>
            <a:r>
              <a:t>Mayor ganancia</a:t>
            </a:r>
            <a:br/>
            <a:r>
              <a:t>Juego favorito</a:t>
            </a:r>
          </a:p>
        </p:txBody>
      </p:sp>
      <p:sp>
        <p:nvSpPr>
          <p:cNvPr id="1048620" name="Rounded Rectangle 28"/>
          <p:cNvSpPr/>
          <p:nvPr/>
        </p:nvSpPr>
        <p:spPr>
          <a:xfrm>
            <a:off x="9281160" y="4709160"/>
            <a:ext cx="2331720" cy="1051560"/>
          </a:xfrm>
          <a:prstGeom prst="roundRect"/>
          <a:solidFill>
            <a:srgbClr val="C0C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000">
                <a:solidFill>
                  <a:srgbClr val="142B46"/>
                </a:solidFill>
                <a:latin typeface="Aptos"/>
              </a:defRPr>
            </a:pPr>
            <a:r>
              <a:t>Registrar transacción</a:t>
            </a:r>
            <a:br/>
            <a:r>
              <a:t>Imprimir historial</a:t>
            </a:r>
            <a:br/>
            <a:r>
              <a:t>Imprimir perfil</a:t>
            </a:r>
            <a:br/>
            <a:r>
              <a:t>Tabla de líderes</a:t>
            </a:r>
          </a:p>
        </p:txBody>
      </p:sp>
      <p:cxnSp>
        <p:nvCxnSpPr>
          <p:cNvPr id="3145739" name="Connector 29"/>
          <p:cNvCxnSpPr>
            <a:cxnSpLocks/>
          </p:cNvCxnSpPr>
          <p:nvPr/>
        </p:nvCxnSpPr>
        <p:spPr>
          <a:xfrm>
            <a:off x="0" y="3977640"/>
            <a:ext cx="0" cy="731520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0" name="Connector 30"/>
          <p:cNvCxnSpPr>
            <a:cxnSpLocks/>
          </p:cNvCxnSpPr>
          <p:nvPr/>
        </p:nvCxnSpPr>
        <p:spPr>
          <a:xfrm flipH="1">
            <a:off x="0" y="3977640"/>
            <a:ext cx="0" cy="731520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1" name="Connector 31"/>
          <p:cNvCxnSpPr>
            <a:cxnSpLocks/>
          </p:cNvCxnSpPr>
          <p:nvPr/>
        </p:nvCxnSpPr>
        <p:spPr>
          <a:xfrm>
            <a:off x="0" y="3977640"/>
            <a:ext cx="0" cy="731520"/>
          </a:xfrm>
          <a:prstGeom prst="line"/>
          <a:ln w="1778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1" name="Rounded Rectangle 32"/>
          <p:cNvSpPr/>
          <p:nvPr/>
        </p:nvSpPr>
        <p:spPr>
          <a:xfrm>
            <a:off x="3337560" y="6080760"/>
            <a:ext cx="5486400" cy="438912"/>
          </a:xfrm>
          <a:prstGeom prst="roundRect"/>
          <a:solidFill>
            <a:srgbClr val="5C63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>
              <a:defRPr b="1" sz="1100">
                <a:solidFill>
                  <a:srgbClr val="FFFFFF"/>
                </a:solidFill>
                <a:latin typeface="Aptos"/>
              </a:defRPr>
            </a:pPr>
            <a:r>
              <a:t>C.3 Persistencia: cargar / guardar información en JSON</a:t>
            </a:r>
          </a:p>
        </p:txBody>
      </p:sp>
      <p:cxnSp>
        <p:nvCxnSpPr>
          <p:cNvPr id="3145742" name="Connector 33"/>
          <p:cNvCxnSpPr>
            <a:cxnSpLocks/>
          </p:cNvCxnSpPr>
          <p:nvPr/>
        </p:nvCxnSpPr>
        <p:spPr>
          <a:xfrm>
            <a:off x="0" y="2770632"/>
            <a:ext cx="0" cy="3310128"/>
          </a:xfrm>
          <a:prstGeom prst="line"/>
          <a:ln w="12700">
            <a:solidFill>
              <a:srgbClr val="AAAF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43" name="Connector 34"/>
          <p:cNvCxnSpPr>
            <a:cxnSpLocks/>
          </p:cNvCxnSpPr>
          <p:nvPr/>
        </p:nvCxnSpPr>
        <p:spPr>
          <a:xfrm flipH="1">
            <a:off x="0" y="2770632"/>
            <a:ext cx="0" cy="3310128"/>
          </a:xfrm>
          <a:prstGeom prst="line"/>
          <a:ln w="12700">
            <a:solidFill>
              <a:srgbClr val="AAAF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45720" tIns="27432" bIns="27432"/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Modelo de Gantt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686800" cy="31089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5B8C"/>
                </a:solidFill>
                <a:latin typeface="Calibri"/>
              </a:rPr>
              <a:t>Planificación por semanas para el desarrollo modular del Sistema de Casino Virtual</a:t>
            </a:r>
          </a:p>
        </p:txBody>
      </p:sp>
      <p:sp>
        <p:nvSpPr>
          <p:cNvPr id="4" name="GanttTaskHeader"/>
          <p:cNvSpPr/>
          <p:nvPr/>
        </p:nvSpPr>
        <p:spPr>
          <a:xfrm>
            <a:off x="502920" y="1353312"/>
            <a:ext cx="3703320" cy="329184"/>
          </a:xfrm>
          <a:prstGeom prst="roundRect">
            <a:avLst/>
          </a:prstGeom>
          <a:solidFill>
            <a:srgbClr val="142B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Tarea / fase</a:t>
            </a:r>
          </a:p>
        </p:txBody>
      </p:sp>
      <p:sp>
        <p:nvSpPr>
          <p:cNvPr id="5" name="WeekHeader 1"/>
          <p:cNvSpPr/>
          <p:nvPr/>
        </p:nvSpPr>
        <p:spPr>
          <a:xfrm>
            <a:off x="420806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6" name="WeekHeader 2"/>
          <p:cNvSpPr/>
          <p:nvPr/>
        </p:nvSpPr>
        <p:spPr>
          <a:xfrm>
            <a:off x="482909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7" name="WeekHeader 3"/>
          <p:cNvSpPr/>
          <p:nvPr/>
        </p:nvSpPr>
        <p:spPr>
          <a:xfrm>
            <a:off x="545012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8" name="WeekHeader 4"/>
          <p:cNvSpPr/>
          <p:nvPr/>
        </p:nvSpPr>
        <p:spPr>
          <a:xfrm>
            <a:off x="607115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9" name="WeekHeader 5"/>
          <p:cNvSpPr/>
          <p:nvPr/>
        </p:nvSpPr>
        <p:spPr>
          <a:xfrm>
            <a:off x="669218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10" name="WeekHeader 6"/>
          <p:cNvSpPr/>
          <p:nvPr/>
        </p:nvSpPr>
        <p:spPr>
          <a:xfrm>
            <a:off x="731321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11" name="WeekHeader 7"/>
          <p:cNvSpPr/>
          <p:nvPr/>
        </p:nvSpPr>
        <p:spPr>
          <a:xfrm>
            <a:off x="793424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12" name="WeekHeader 8"/>
          <p:cNvSpPr/>
          <p:nvPr/>
        </p:nvSpPr>
        <p:spPr>
          <a:xfrm>
            <a:off x="855527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13" name="WeekHeader 9"/>
          <p:cNvSpPr/>
          <p:nvPr/>
        </p:nvSpPr>
        <p:spPr>
          <a:xfrm>
            <a:off x="917630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S9</a:t>
            </a:r>
          </a:p>
        </p:txBody>
      </p:sp>
      <p:sp>
        <p:nvSpPr>
          <p:cNvPr id="14" name="WeekHeader 10"/>
          <p:cNvSpPr/>
          <p:nvPr/>
        </p:nvSpPr>
        <p:spPr>
          <a:xfrm>
            <a:off x="979733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15" name="WeekHeader 11"/>
          <p:cNvSpPr/>
          <p:nvPr/>
        </p:nvSpPr>
        <p:spPr>
          <a:xfrm>
            <a:off x="1041836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S11</a:t>
            </a:r>
          </a:p>
        </p:txBody>
      </p:sp>
      <p:sp>
        <p:nvSpPr>
          <p:cNvPr id="16" name="WeekHeader 12"/>
          <p:cNvSpPr/>
          <p:nvPr/>
        </p:nvSpPr>
        <p:spPr>
          <a:xfrm>
            <a:off x="11039398" y="1353312"/>
            <a:ext cx="617372" cy="329184"/>
          </a:xfrm>
          <a:prstGeom prst="rect">
            <a:avLst/>
          </a:prstGeom>
          <a:solidFill>
            <a:srgbClr val="142B4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17" name="TaskLabel 1"/>
          <p:cNvSpPr/>
          <p:nvPr/>
        </p:nvSpPr>
        <p:spPr>
          <a:xfrm>
            <a:off x="502920" y="1682495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Requisitos y casos de uso</a:t>
            </a:r>
          </a:p>
        </p:txBody>
      </p:sp>
      <p:sp>
        <p:nvSpPr>
          <p:cNvPr id="18" name="PhaseSwatch 1"/>
          <p:cNvSpPr/>
          <p:nvPr/>
        </p:nvSpPr>
        <p:spPr>
          <a:xfrm>
            <a:off x="4005072" y="1746504"/>
            <a:ext cx="118872" cy="155448"/>
          </a:xfrm>
          <a:prstGeom prst="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ridCell 1-1"/>
          <p:cNvSpPr/>
          <p:nvPr/>
        </p:nvSpPr>
        <p:spPr>
          <a:xfrm>
            <a:off x="420806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ridCell 1-2"/>
          <p:cNvSpPr/>
          <p:nvPr/>
        </p:nvSpPr>
        <p:spPr>
          <a:xfrm>
            <a:off x="482909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GridCell 1-3"/>
          <p:cNvSpPr/>
          <p:nvPr/>
        </p:nvSpPr>
        <p:spPr>
          <a:xfrm>
            <a:off x="545012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GridCell 1-4"/>
          <p:cNvSpPr/>
          <p:nvPr/>
        </p:nvSpPr>
        <p:spPr>
          <a:xfrm>
            <a:off x="607115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ridCell 1-5"/>
          <p:cNvSpPr/>
          <p:nvPr/>
        </p:nvSpPr>
        <p:spPr>
          <a:xfrm>
            <a:off x="669218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ridCell 1-6"/>
          <p:cNvSpPr/>
          <p:nvPr/>
        </p:nvSpPr>
        <p:spPr>
          <a:xfrm>
            <a:off x="731321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ridCell 1-7"/>
          <p:cNvSpPr/>
          <p:nvPr/>
        </p:nvSpPr>
        <p:spPr>
          <a:xfrm>
            <a:off x="793424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ridCell 1-8"/>
          <p:cNvSpPr/>
          <p:nvPr/>
        </p:nvSpPr>
        <p:spPr>
          <a:xfrm>
            <a:off x="855527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ridCell 1-9"/>
          <p:cNvSpPr/>
          <p:nvPr/>
        </p:nvSpPr>
        <p:spPr>
          <a:xfrm>
            <a:off x="917630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ridCell 1-10"/>
          <p:cNvSpPr/>
          <p:nvPr/>
        </p:nvSpPr>
        <p:spPr>
          <a:xfrm>
            <a:off x="979733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ridCell 1-11"/>
          <p:cNvSpPr/>
          <p:nvPr/>
        </p:nvSpPr>
        <p:spPr>
          <a:xfrm>
            <a:off x="1041836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GridCell 1-12"/>
          <p:cNvSpPr/>
          <p:nvPr/>
        </p:nvSpPr>
        <p:spPr>
          <a:xfrm>
            <a:off x="11039398" y="1682495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GanttBar 1"/>
          <p:cNvSpPr/>
          <p:nvPr/>
        </p:nvSpPr>
        <p:spPr>
          <a:xfrm>
            <a:off x="4242816" y="1741931"/>
            <a:ext cx="1168908" cy="178308"/>
          </a:xfrm>
          <a:prstGeom prst="round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skLabel 2"/>
          <p:cNvSpPr/>
          <p:nvPr/>
        </p:nvSpPr>
        <p:spPr>
          <a:xfrm>
            <a:off x="502920" y="1991563"/>
            <a:ext cx="370332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Arquitectura (TOP-DOWN)</a:t>
            </a:r>
          </a:p>
        </p:txBody>
      </p:sp>
      <p:sp>
        <p:nvSpPr>
          <p:cNvPr id="33" name="PhaseSwatch 2"/>
          <p:cNvSpPr/>
          <p:nvPr/>
        </p:nvSpPr>
        <p:spPr>
          <a:xfrm>
            <a:off x="4005072" y="2055571"/>
            <a:ext cx="118872" cy="155448"/>
          </a:xfrm>
          <a:prstGeom prst="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GridCell 2-1"/>
          <p:cNvSpPr/>
          <p:nvPr/>
        </p:nvSpPr>
        <p:spPr>
          <a:xfrm>
            <a:off x="420806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GridCell 2-2"/>
          <p:cNvSpPr/>
          <p:nvPr/>
        </p:nvSpPr>
        <p:spPr>
          <a:xfrm>
            <a:off x="482909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ridCell 2-3"/>
          <p:cNvSpPr/>
          <p:nvPr/>
        </p:nvSpPr>
        <p:spPr>
          <a:xfrm>
            <a:off x="545012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idCell 2-4"/>
          <p:cNvSpPr/>
          <p:nvPr/>
        </p:nvSpPr>
        <p:spPr>
          <a:xfrm>
            <a:off x="607115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ridCell 2-5"/>
          <p:cNvSpPr/>
          <p:nvPr/>
        </p:nvSpPr>
        <p:spPr>
          <a:xfrm>
            <a:off x="669218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ridCell 2-6"/>
          <p:cNvSpPr/>
          <p:nvPr/>
        </p:nvSpPr>
        <p:spPr>
          <a:xfrm>
            <a:off x="731321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ridCell 2-7"/>
          <p:cNvSpPr/>
          <p:nvPr/>
        </p:nvSpPr>
        <p:spPr>
          <a:xfrm>
            <a:off x="793424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ridCell 2-8"/>
          <p:cNvSpPr/>
          <p:nvPr/>
        </p:nvSpPr>
        <p:spPr>
          <a:xfrm>
            <a:off x="855527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ridCell 2-9"/>
          <p:cNvSpPr/>
          <p:nvPr/>
        </p:nvSpPr>
        <p:spPr>
          <a:xfrm>
            <a:off x="917630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ridCell 2-10"/>
          <p:cNvSpPr/>
          <p:nvPr/>
        </p:nvSpPr>
        <p:spPr>
          <a:xfrm>
            <a:off x="979733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ridCell 2-11"/>
          <p:cNvSpPr/>
          <p:nvPr/>
        </p:nvSpPr>
        <p:spPr>
          <a:xfrm>
            <a:off x="1041836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ridCell 2-12"/>
          <p:cNvSpPr/>
          <p:nvPr/>
        </p:nvSpPr>
        <p:spPr>
          <a:xfrm>
            <a:off x="11039398" y="1991563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anttBar 2"/>
          <p:cNvSpPr/>
          <p:nvPr/>
        </p:nvSpPr>
        <p:spPr>
          <a:xfrm>
            <a:off x="4863846" y="2050999"/>
            <a:ext cx="1168908" cy="178308"/>
          </a:xfrm>
          <a:prstGeom prst="round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askLabel 3"/>
          <p:cNvSpPr/>
          <p:nvPr/>
        </p:nvSpPr>
        <p:spPr>
          <a:xfrm>
            <a:off x="502920" y="2300630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Entorno y repositorio</a:t>
            </a:r>
          </a:p>
        </p:txBody>
      </p:sp>
      <p:sp>
        <p:nvSpPr>
          <p:cNvPr id="48" name="PhaseSwatch 3"/>
          <p:cNvSpPr/>
          <p:nvPr/>
        </p:nvSpPr>
        <p:spPr>
          <a:xfrm>
            <a:off x="4005072" y="2364638"/>
            <a:ext cx="118872" cy="155448"/>
          </a:xfrm>
          <a:prstGeom prst="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ridCell 3-1"/>
          <p:cNvSpPr/>
          <p:nvPr/>
        </p:nvSpPr>
        <p:spPr>
          <a:xfrm>
            <a:off x="420806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GridCell 3-2"/>
          <p:cNvSpPr/>
          <p:nvPr/>
        </p:nvSpPr>
        <p:spPr>
          <a:xfrm>
            <a:off x="482909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GridCell 3-3"/>
          <p:cNvSpPr/>
          <p:nvPr/>
        </p:nvSpPr>
        <p:spPr>
          <a:xfrm>
            <a:off x="545012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GridCell 3-4"/>
          <p:cNvSpPr/>
          <p:nvPr/>
        </p:nvSpPr>
        <p:spPr>
          <a:xfrm>
            <a:off x="607115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GridCell 3-5"/>
          <p:cNvSpPr/>
          <p:nvPr/>
        </p:nvSpPr>
        <p:spPr>
          <a:xfrm>
            <a:off x="669218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GridCell 3-6"/>
          <p:cNvSpPr/>
          <p:nvPr/>
        </p:nvSpPr>
        <p:spPr>
          <a:xfrm>
            <a:off x="731321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GridCell 3-7"/>
          <p:cNvSpPr/>
          <p:nvPr/>
        </p:nvSpPr>
        <p:spPr>
          <a:xfrm>
            <a:off x="793424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GridCell 3-8"/>
          <p:cNvSpPr/>
          <p:nvPr/>
        </p:nvSpPr>
        <p:spPr>
          <a:xfrm>
            <a:off x="855527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GridCell 3-9"/>
          <p:cNvSpPr/>
          <p:nvPr/>
        </p:nvSpPr>
        <p:spPr>
          <a:xfrm>
            <a:off x="917630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GridCell 3-10"/>
          <p:cNvSpPr/>
          <p:nvPr/>
        </p:nvSpPr>
        <p:spPr>
          <a:xfrm>
            <a:off x="979733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GridCell 3-11"/>
          <p:cNvSpPr/>
          <p:nvPr/>
        </p:nvSpPr>
        <p:spPr>
          <a:xfrm>
            <a:off x="1041836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GridCell 3-12"/>
          <p:cNvSpPr/>
          <p:nvPr/>
        </p:nvSpPr>
        <p:spPr>
          <a:xfrm>
            <a:off x="11039398" y="2300630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GanttBar 3"/>
          <p:cNvSpPr/>
          <p:nvPr/>
        </p:nvSpPr>
        <p:spPr>
          <a:xfrm>
            <a:off x="4242816" y="2360066"/>
            <a:ext cx="547878" cy="178308"/>
          </a:xfrm>
          <a:prstGeom prst="round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askLabel 4"/>
          <p:cNvSpPr/>
          <p:nvPr/>
        </p:nvSpPr>
        <p:spPr>
          <a:xfrm>
            <a:off x="502920" y="2609697"/>
            <a:ext cx="370332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Clases y modelos</a:t>
            </a:r>
          </a:p>
        </p:txBody>
      </p:sp>
      <p:sp>
        <p:nvSpPr>
          <p:cNvPr id="63" name="PhaseSwatch 4"/>
          <p:cNvSpPr/>
          <p:nvPr/>
        </p:nvSpPr>
        <p:spPr>
          <a:xfrm>
            <a:off x="4005072" y="2673705"/>
            <a:ext cx="118872" cy="155448"/>
          </a:xfrm>
          <a:prstGeom prst="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GridCell 4-1"/>
          <p:cNvSpPr/>
          <p:nvPr/>
        </p:nvSpPr>
        <p:spPr>
          <a:xfrm>
            <a:off x="420806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GridCell 4-2"/>
          <p:cNvSpPr/>
          <p:nvPr/>
        </p:nvSpPr>
        <p:spPr>
          <a:xfrm>
            <a:off x="482909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ridCell 4-3"/>
          <p:cNvSpPr/>
          <p:nvPr/>
        </p:nvSpPr>
        <p:spPr>
          <a:xfrm>
            <a:off x="545012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ridCell 4-4"/>
          <p:cNvSpPr/>
          <p:nvPr/>
        </p:nvSpPr>
        <p:spPr>
          <a:xfrm>
            <a:off x="607115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GridCell 4-5"/>
          <p:cNvSpPr/>
          <p:nvPr/>
        </p:nvSpPr>
        <p:spPr>
          <a:xfrm>
            <a:off x="669218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GridCell 4-6"/>
          <p:cNvSpPr/>
          <p:nvPr/>
        </p:nvSpPr>
        <p:spPr>
          <a:xfrm>
            <a:off x="731321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GridCell 4-7"/>
          <p:cNvSpPr/>
          <p:nvPr/>
        </p:nvSpPr>
        <p:spPr>
          <a:xfrm>
            <a:off x="793424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GridCell 4-8"/>
          <p:cNvSpPr/>
          <p:nvPr/>
        </p:nvSpPr>
        <p:spPr>
          <a:xfrm>
            <a:off x="855527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GridCell 4-9"/>
          <p:cNvSpPr/>
          <p:nvPr/>
        </p:nvSpPr>
        <p:spPr>
          <a:xfrm>
            <a:off x="917630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GridCell 4-10"/>
          <p:cNvSpPr/>
          <p:nvPr/>
        </p:nvSpPr>
        <p:spPr>
          <a:xfrm>
            <a:off x="979733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GridCell 4-11"/>
          <p:cNvSpPr/>
          <p:nvPr/>
        </p:nvSpPr>
        <p:spPr>
          <a:xfrm>
            <a:off x="1041836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GridCell 4-12"/>
          <p:cNvSpPr/>
          <p:nvPr/>
        </p:nvSpPr>
        <p:spPr>
          <a:xfrm>
            <a:off x="11039398" y="2609697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GanttBar 4"/>
          <p:cNvSpPr/>
          <p:nvPr/>
        </p:nvSpPr>
        <p:spPr>
          <a:xfrm>
            <a:off x="5484876" y="2669133"/>
            <a:ext cx="1168908" cy="178308"/>
          </a:xfrm>
          <a:prstGeom prst="round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askLabel 5"/>
          <p:cNvSpPr/>
          <p:nvPr/>
        </p:nvSpPr>
        <p:spPr>
          <a:xfrm>
            <a:off x="502920" y="2918764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Persistencia en JSON</a:t>
            </a:r>
          </a:p>
        </p:txBody>
      </p:sp>
      <p:sp>
        <p:nvSpPr>
          <p:cNvPr id="78" name="PhaseSwatch 5"/>
          <p:cNvSpPr/>
          <p:nvPr/>
        </p:nvSpPr>
        <p:spPr>
          <a:xfrm>
            <a:off x="4005072" y="2982772"/>
            <a:ext cx="118872" cy="155448"/>
          </a:xfrm>
          <a:prstGeom prst="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GridCell 5-1"/>
          <p:cNvSpPr/>
          <p:nvPr/>
        </p:nvSpPr>
        <p:spPr>
          <a:xfrm>
            <a:off x="420806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GridCell 5-2"/>
          <p:cNvSpPr/>
          <p:nvPr/>
        </p:nvSpPr>
        <p:spPr>
          <a:xfrm>
            <a:off x="482909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GridCell 5-3"/>
          <p:cNvSpPr/>
          <p:nvPr/>
        </p:nvSpPr>
        <p:spPr>
          <a:xfrm>
            <a:off x="545012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GridCell 5-4"/>
          <p:cNvSpPr/>
          <p:nvPr/>
        </p:nvSpPr>
        <p:spPr>
          <a:xfrm>
            <a:off x="607115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ridCell 5-5"/>
          <p:cNvSpPr/>
          <p:nvPr/>
        </p:nvSpPr>
        <p:spPr>
          <a:xfrm>
            <a:off x="669218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GridCell 5-6"/>
          <p:cNvSpPr/>
          <p:nvPr/>
        </p:nvSpPr>
        <p:spPr>
          <a:xfrm>
            <a:off x="731321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idCell 5-7"/>
          <p:cNvSpPr/>
          <p:nvPr/>
        </p:nvSpPr>
        <p:spPr>
          <a:xfrm>
            <a:off x="793424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idCell 5-8"/>
          <p:cNvSpPr/>
          <p:nvPr/>
        </p:nvSpPr>
        <p:spPr>
          <a:xfrm>
            <a:off x="855527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GridCell 5-9"/>
          <p:cNvSpPr/>
          <p:nvPr/>
        </p:nvSpPr>
        <p:spPr>
          <a:xfrm>
            <a:off x="917630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GridCell 5-10"/>
          <p:cNvSpPr/>
          <p:nvPr/>
        </p:nvSpPr>
        <p:spPr>
          <a:xfrm>
            <a:off x="979733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GridCell 5-11"/>
          <p:cNvSpPr/>
          <p:nvPr/>
        </p:nvSpPr>
        <p:spPr>
          <a:xfrm>
            <a:off x="1041836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ridCell 5-12"/>
          <p:cNvSpPr/>
          <p:nvPr/>
        </p:nvSpPr>
        <p:spPr>
          <a:xfrm>
            <a:off x="11039398" y="2918764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GanttBar 5"/>
          <p:cNvSpPr/>
          <p:nvPr/>
        </p:nvSpPr>
        <p:spPr>
          <a:xfrm>
            <a:off x="6105905" y="2978200"/>
            <a:ext cx="1168908" cy="178308"/>
          </a:xfrm>
          <a:prstGeom prst="round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askLabel 6"/>
          <p:cNvSpPr/>
          <p:nvPr/>
        </p:nvSpPr>
        <p:spPr>
          <a:xfrm>
            <a:off x="502920" y="3227832"/>
            <a:ext cx="370332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CRUD: registro, login, transacciones</a:t>
            </a:r>
          </a:p>
        </p:txBody>
      </p:sp>
      <p:sp>
        <p:nvSpPr>
          <p:cNvPr id="93" name="PhaseSwatch 6"/>
          <p:cNvSpPr/>
          <p:nvPr/>
        </p:nvSpPr>
        <p:spPr>
          <a:xfrm>
            <a:off x="4005072" y="3291839"/>
            <a:ext cx="118872" cy="155448"/>
          </a:xfrm>
          <a:prstGeom prst="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GridCell 6-1"/>
          <p:cNvSpPr/>
          <p:nvPr/>
        </p:nvSpPr>
        <p:spPr>
          <a:xfrm>
            <a:off x="420806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GridCell 6-2"/>
          <p:cNvSpPr/>
          <p:nvPr/>
        </p:nvSpPr>
        <p:spPr>
          <a:xfrm>
            <a:off x="482909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GridCell 6-3"/>
          <p:cNvSpPr/>
          <p:nvPr/>
        </p:nvSpPr>
        <p:spPr>
          <a:xfrm>
            <a:off x="545012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GridCell 6-4"/>
          <p:cNvSpPr/>
          <p:nvPr/>
        </p:nvSpPr>
        <p:spPr>
          <a:xfrm>
            <a:off x="607115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GridCell 6-5"/>
          <p:cNvSpPr/>
          <p:nvPr/>
        </p:nvSpPr>
        <p:spPr>
          <a:xfrm>
            <a:off x="669218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GridCell 6-6"/>
          <p:cNvSpPr/>
          <p:nvPr/>
        </p:nvSpPr>
        <p:spPr>
          <a:xfrm>
            <a:off x="731321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GridCell 6-7"/>
          <p:cNvSpPr/>
          <p:nvPr/>
        </p:nvSpPr>
        <p:spPr>
          <a:xfrm>
            <a:off x="793424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GridCell 6-8"/>
          <p:cNvSpPr/>
          <p:nvPr/>
        </p:nvSpPr>
        <p:spPr>
          <a:xfrm>
            <a:off x="855527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GridCell 6-9"/>
          <p:cNvSpPr/>
          <p:nvPr/>
        </p:nvSpPr>
        <p:spPr>
          <a:xfrm>
            <a:off x="917630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GridCell 6-10"/>
          <p:cNvSpPr/>
          <p:nvPr/>
        </p:nvSpPr>
        <p:spPr>
          <a:xfrm>
            <a:off x="979733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GridCell 6-11"/>
          <p:cNvSpPr/>
          <p:nvPr/>
        </p:nvSpPr>
        <p:spPr>
          <a:xfrm>
            <a:off x="1041836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ridCell 6-12"/>
          <p:cNvSpPr/>
          <p:nvPr/>
        </p:nvSpPr>
        <p:spPr>
          <a:xfrm>
            <a:off x="11039398" y="3227832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GanttBar 6"/>
          <p:cNvSpPr/>
          <p:nvPr/>
        </p:nvSpPr>
        <p:spPr>
          <a:xfrm>
            <a:off x="6726936" y="3287268"/>
            <a:ext cx="1168908" cy="178308"/>
          </a:xfrm>
          <a:prstGeom prst="round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askLabel 7"/>
          <p:cNvSpPr/>
          <p:nvPr/>
        </p:nvSpPr>
        <p:spPr>
          <a:xfrm>
            <a:off x="502920" y="3536899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Reglas de negocio y validaciones</a:t>
            </a:r>
          </a:p>
        </p:txBody>
      </p:sp>
      <p:sp>
        <p:nvSpPr>
          <p:cNvPr id="108" name="PhaseSwatch 7"/>
          <p:cNvSpPr/>
          <p:nvPr/>
        </p:nvSpPr>
        <p:spPr>
          <a:xfrm>
            <a:off x="4005072" y="3600907"/>
            <a:ext cx="118872" cy="155448"/>
          </a:xfrm>
          <a:prstGeom prst="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ridCell 7-1"/>
          <p:cNvSpPr/>
          <p:nvPr/>
        </p:nvSpPr>
        <p:spPr>
          <a:xfrm>
            <a:off x="420806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GridCell 7-2"/>
          <p:cNvSpPr/>
          <p:nvPr/>
        </p:nvSpPr>
        <p:spPr>
          <a:xfrm>
            <a:off x="482909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GridCell 7-3"/>
          <p:cNvSpPr/>
          <p:nvPr/>
        </p:nvSpPr>
        <p:spPr>
          <a:xfrm>
            <a:off x="545012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GridCell 7-4"/>
          <p:cNvSpPr/>
          <p:nvPr/>
        </p:nvSpPr>
        <p:spPr>
          <a:xfrm>
            <a:off x="607115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GridCell 7-5"/>
          <p:cNvSpPr/>
          <p:nvPr/>
        </p:nvSpPr>
        <p:spPr>
          <a:xfrm>
            <a:off x="669218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GridCell 7-6"/>
          <p:cNvSpPr/>
          <p:nvPr/>
        </p:nvSpPr>
        <p:spPr>
          <a:xfrm>
            <a:off x="731321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GridCell 7-7"/>
          <p:cNvSpPr/>
          <p:nvPr/>
        </p:nvSpPr>
        <p:spPr>
          <a:xfrm>
            <a:off x="793424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GridCell 7-8"/>
          <p:cNvSpPr/>
          <p:nvPr/>
        </p:nvSpPr>
        <p:spPr>
          <a:xfrm>
            <a:off x="855527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GridCell 7-9"/>
          <p:cNvSpPr/>
          <p:nvPr/>
        </p:nvSpPr>
        <p:spPr>
          <a:xfrm>
            <a:off x="917630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ridCell 7-10"/>
          <p:cNvSpPr/>
          <p:nvPr/>
        </p:nvSpPr>
        <p:spPr>
          <a:xfrm>
            <a:off x="979733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ridCell 7-11"/>
          <p:cNvSpPr/>
          <p:nvPr/>
        </p:nvSpPr>
        <p:spPr>
          <a:xfrm>
            <a:off x="1041836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ridCell 7-12"/>
          <p:cNvSpPr/>
          <p:nvPr/>
        </p:nvSpPr>
        <p:spPr>
          <a:xfrm>
            <a:off x="11039398" y="3536899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anttBar 7"/>
          <p:cNvSpPr/>
          <p:nvPr/>
        </p:nvSpPr>
        <p:spPr>
          <a:xfrm>
            <a:off x="7347965" y="3596335"/>
            <a:ext cx="1168908" cy="178308"/>
          </a:xfrm>
          <a:prstGeom prst="round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askLabel 8"/>
          <p:cNvSpPr/>
          <p:nvPr/>
        </p:nvSpPr>
        <p:spPr>
          <a:xfrm>
            <a:off x="502920" y="3845966"/>
            <a:ext cx="370332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Menú de consola</a:t>
            </a:r>
          </a:p>
        </p:txBody>
      </p:sp>
      <p:sp>
        <p:nvSpPr>
          <p:cNvPr id="123" name="PhaseSwatch 8"/>
          <p:cNvSpPr/>
          <p:nvPr/>
        </p:nvSpPr>
        <p:spPr>
          <a:xfrm>
            <a:off x="4005072" y="3909974"/>
            <a:ext cx="118872" cy="155448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GridCell 8-1"/>
          <p:cNvSpPr/>
          <p:nvPr/>
        </p:nvSpPr>
        <p:spPr>
          <a:xfrm>
            <a:off x="420806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GridCell 8-2"/>
          <p:cNvSpPr/>
          <p:nvPr/>
        </p:nvSpPr>
        <p:spPr>
          <a:xfrm>
            <a:off x="482909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ridCell 8-3"/>
          <p:cNvSpPr/>
          <p:nvPr/>
        </p:nvSpPr>
        <p:spPr>
          <a:xfrm>
            <a:off x="545012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GridCell 8-4"/>
          <p:cNvSpPr/>
          <p:nvPr/>
        </p:nvSpPr>
        <p:spPr>
          <a:xfrm>
            <a:off x="607115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GridCell 8-5"/>
          <p:cNvSpPr/>
          <p:nvPr/>
        </p:nvSpPr>
        <p:spPr>
          <a:xfrm>
            <a:off x="669218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GridCell 8-6"/>
          <p:cNvSpPr/>
          <p:nvPr/>
        </p:nvSpPr>
        <p:spPr>
          <a:xfrm>
            <a:off x="731321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GridCell 8-7"/>
          <p:cNvSpPr/>
          <p:nvPr/>
        </p:nvSpPr>
        <p:spPr>
          <a:xfrm>
            <a:off x="793424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GridCell 8-8"/>
          <p:cNvSpPr/>
          <p:nvPr/>
        </p:nvSpPr>
        <p:spPr>
          <a:xfrm>
            <a:off x="855527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GridCell 8-9"/>
          <p:cNvSpPr/>
          <p:nvPr/>
        </p:nvSpPr>
        <p:spPr>
          <a:xfrm>
            <a:off x="917630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GridCell 8-10"/>
          <p:cNvSpPr/>
          <p:nvPr/>
        </p:nvSpPr>
        <p:spPr>
          <a:xfrm>
            <a:off x="979733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GridCell 8-11"/>
          <p:cNvSpPr/>
          <p:nvPr/>
        </p:nvSpPr>
        <p:spPr>
          <a:xfrm>
            <a:off x="1041836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GridCell 8-12"/>
          <p:cNvSpPr/>
          <p:nvPr/>
        </p:nvSpPr>
        <p:spPr>
          <a:xfrm>
            <a:off x="11039398" y="3845966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GanttBar 8"/>
          <p:cNvSpPr/>
          <p:nvPr/>
        </p:nvSpPr>
        <p:spPr>
          <a:xfrm>
            <a:off x="6726936" y="3905402"/>
            <a:ext cx="1168908" cy="178308"/>
          </a:xfrm>
          <a:prstGeom prst="round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askLabel 9"/>
          <p:cNvSpPr/>
          <p:nvPr/>
        </p:nvSpPr>
        <p:spPr>
          <a:xfrm>
            <a:off x="502920" y="4155033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Integración menú-lógica</a:t>
            </a:r>
          </a:p>
        </p:txBody>
      </p:sp>
      <p:sp>
        <p:nvSpPr>
          <p:cNvPr id="138" name="PhaseSwatch 9"/>
          <p:cNvSpPr/>
          <p:nvPr/>
        </p:nvSpPr>
        <p:spPr>
          <a:xfrm>
            <a:off x="4005072" y="4219041"/>
            <a:ext cx="118872" cy="155448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GridCell 9-1"/>
          <p:cNvSpPr/>
          <p:nvPr/>
        </p:nvSpPr>
        <p:spPr>
          <a:xfrm>
            <a:off x="420806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GridCell 9-2"/>
          <p:cNvSpPr/>
          <p:nvPr/>
        </p:nvSpPr>
        <p:spPr>
          <a:xfrm>
            <a:off x="482909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ridCell 9-3"/>
          <p:cNvSpPr/>
          <p:nvPr/>
        </p:nvSpPr>
        <p:spPr>
          <a:xfrm>
            <a:off x="545012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ridCell 9-4"/>
          <p:cNvSpPr/>
          <p:nvPr/>
        </p:nvSpPr>
        <p:spPr>
          <a:xfrm>
            <a:off x="607115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GridCell 9-5"/>
          <p:cNvSpPr/>
          <p:nvPr/>
        </p:nvSpPr>
        <p:spPr>
          <a:xfrm>
            <a:off x="669218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GridCell 9-6"/>
          <p:cNvSpPr/>
          <p:nvPr/>
        </p:nvSpPr>
        <p:spPr>
          <a:xfrm>
            <a:off x="731321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ridCell 9-7"/>
          <p:cNvSpPr/>
          <p:nvPr/>
        </p:nvSpPr>
        <p:spPr>
          <a:xfrm>
            <a:off x="793424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ridCell 9-8"/>
          <p:cNvSpPr/>
          <p:nvPr/>
        </p:nvSpPr>
        <p:spPr>
          <a:xfrm>
            <a:off x="855527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GridCell 9-9"/>
          <p:cNvSpPr/>
          <p:nvPr/>
        </p:nvSpPr>
        <p:spPr>
          <a:xfrm>
            <a:off x="917630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GridCell 9-10"/>
          <p:cNvSpPr/>
          <p:nvPr/>
        </p:nvSpPr>
        <p:spPr>
          <a:xfrm>
            <a:off x="979733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ridCell 9-11"/>
          <p:cNvSpPr/>
          <p:nvPr/>
        </p:nvSpPr>
        <p:spPr>
          <a:xfrm>
            <a:off x="1041836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ridCell 9-12"/>
          <p:cNvSpPr/>
          <p:nvPr/>
        </p:nvSpPr>
        <p:spPr>
          <a:xfrm>
            <a:off x="11039398" y="4155033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GanttBar 9"/>
          <p:cNvSpPr/>
          <p:nvPr/>
        </p:nvSpPr>
        <p:spPr>
          <a:xfrm>
            <a:off x="7968996" y="4214469"/>
            <a:ext cx="1168908" cy="178308"/>
          </a:xfrm>
          <a:prstGeom prst="round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askLabel 10"/>
          <p:cNvSpPr/>
          <p:nvPr/>
        </p:nvSpPr>
        <p:spPr>
          <a:xfrm>
            <a:off x="502920" y="4464100"/>
            <a:ext cx="370332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Pruebas unitarias</a:t>
            </a:r>
          </a:p>
        </p:txBody>
      </p:sp>
      <p:sp>
        <p:nvSpPr>
          <p:cNvPr id="153" name="PhaseSwatch 10"/>
          <p:cNvSpPr/>
          <p:nvPr/>
        </p:nvSpPr>
        <p:spPr>
          <a:xfrm>
            <a:off x="4005072" y="4528108"/>
            <a:ext cx="118872" cy="155448"/>
          </a:xfrm>
          <a:prstGeom prst="rect">
            <a:avLst/>
          </a:prstGeom>
          <a:solidFill>
            <a:srgbClr val="BE8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ridCell 10-1"/>
          <p:cNvSpPr/>
          <p:nvPr/>
        </p:nvSpPr>
        <p:spPr>
          <a:xfrm>
            <a:off x="420806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GridCell 10-2"/>
          <p:cNvSpPr/>
          <p:nvPr/>
        </p:nvSpPr>
        <p:spPr>
          <a:xfrm>
            <a:off x="482909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GridCell 10-3"/>
          <p:cNvSpPr/>
          <p:nvPr/>
        </p:nvSpPr>
        <p:spPr>
          <a:xfrm>
            <a:off x="545012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ridCell 10-4"/>
          <p:cNvSpPr/>
          <p:nvPr/>
        </p:nvSpPr>
        <p:spPr>
          <a:xfrm>
            <a:off x="607115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ridCell 10-5"/>
          <p:cNvSpPr/>
          <p:nvPr/>
        </p:nvSpPr>
        <p:spPr>
          <a:xfrm>
            <a:off x="669218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GridCell 10-6"/>
          <p:cNvSpPr/>
          <p:nvPr/>
        </p:nvSpPr>
        <p:spPr>
          <a:xfrm>
            <a:off x="731321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GridCell 10-7"/>
          <p:cNvSpPr/>
          <p:nvPr/>
        </p:nvSpPr>
        <p:spPr>
          <a:xfrm>
            <a:off x="793424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ridCell 10-8"/>
          <p:cNvSpPr/>
          <p:nvPr/>
        </p:nvSpPr>
        <p:spPr>
          <a:xfrm>
            <a:off x="855527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ridCell 10-9"/>
          <p:cNvSpPr/>
          <p:nvPr/>
        </p:nvSpPr>
        <p:spPr>
          <a:xfrm>
            <a:off x="917630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idCell 10-10"/>
          <p:cNvSpPr/>
          <p:nvPr/>
        </p:nvSpPr>
        <p:spPr>
          <a:xfrm>
            <a:off x="979733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GridCell 10-11"/>
          <p:cNvSpPr/>
          <p:nvPr/>
        </p:nvSpPr>
        <p:spPr>
          <a:xfrm>
            <a:off x="1041836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ridCell 10-12"/>
          <p:cNvSpPr/>
          <p:nvPr/>
        </p:nvSpPr>
        <p:spPr>
          <a:xfrm>
            <a:off x="11039398" y="4464100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anttBar 10"/>
          <p:cNvSpPr/>
          <p:nvPr/>
        </p:nvSpPr>
        <p:spPr>
          <a:xfrm>
            <a:off x="7968996" y="4523536"/>
            <a:ext cx="1168908" cy="178308"/>
          </a:xfrm>
          <a:prstGeom prst="roundRect">
            <a:avLst/>
          </a:prstGeom>
          <a:solidFill>
            <a:srgbClr val="BE8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askLabel 11"/>
          <p:cNvSpPr/>
          <p:nvPr/>
        </p:nvSpPr>
        <p:spPr>
          <a:xfrm>
            <a:off x="502920" y="4773168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Integración y corrección de bugs</a:t>
            </a:r>
          </a:p>
        </p:txBody>
      </p:sp>
      <p:sp>
        <p:nvSpPr>
          <p:cNvPr id="168" name="PhaseSwatch 11"/>
          <p:cNvSpPr/>
          <p:nvPr/>
        </p:nvSpPr>
        <p:spPr>
          <a:xfrm>
            <a:off x="4005072" y="4837176"/>
            <a:ext cx="118872" cy="155448"/>
          </a:xfrm>
          <a:prstGeom prst="rect">
            <a:avLst/>
          </a:prstGeom>
          <a:solidFill>
            <a:srgbClr val="BE8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GridCell 11-1"/>
          <p:cNvSpPr/>
          <p:nvPr/>
        </p:nvSpPr>
        <p:spPr>
          <a:xfrm>
            <a:off x="420806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GridCell 11-2"/>
          <p:cNvSpPr/>
          <p:nvPr/>
        </p:nvSpPr>
        <p:spPr>
          <a:xfrm>
            <a:off x="482909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GridCell 11-3"/>
          <p:cNvSpPr/>
          <p:nvPr/>
        </p:nvSpPr>
        <p:spPr>
          <a:xfrm>
            <a:off x="545012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GridCell 11-4"/>
          <p:cNvSpPr/>
          <p:nvPr/>
        </p:nvSpPr>
        <p:spPr>
          <a:xfrm>
            <a:off x="607115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GridCell 11-5"/>
          <p:cNvSpPr/>
          <p:nvPr/>
        </p:nvSpPr>
        <p:spPr>
          <a:xfrm>
            <a:off x="669218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GridCell 11-6"/>
          <p:cNvSpPr/>
          <p:nvPr/>
        </p:nvSpPr>
        <p:spPr>
          <a:xfrm>
            <a:off x="731321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GridCell 11-7"/>
          <p:cNvSpPr/>
          <p:nvPr/>
        </p:nvSpPr>
        <p:spPr>
          <a:xfrm>
            <a:off x="793424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GridCell 11-8"/>
          <p:cNvSpPr/>
          <p:nvPr/>
        </p:nvSpPr>
        <p:spPr>
          <a:xfrm>
            <a:off x="855527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GridCell 11-9"/>
          <p:cNvSpPr/>
          <p:nvPr/>
        </p:nvSpPr>
        <p:spPr>
          <a:xfrm>
            <a:off x="917630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GridCell 11-10"/>
          <p:cNvSpPr/>
          <p:nvPr/>
        </p:nvSpPr>
        <p:spPr>
          <a:xfrm>
            <a:off x="979733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ridCell 11-11"/>
          <p:cNvSpPr/>
          <p:nvPr/>
        </p:nvSpPr>
        <p:spPr>
          <a:xfrm>
            <a:off x="1041836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GridCell 11-12"/>
          <p:cNvSpPr/>
          <p:nvPr/>
        </p:nvSpPr>
        <p:spPr>
          <a:xfrm>
            <a:off x="11039398" y="4773168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GanttBar 11"/>
          <p:cNvSpPr/>
          <p:nvPr/>
        </p:nvSpPr>
        <p:spPr>
          <a:xfrm>
            <a:off x="9211056" y="4832604"/>
            <a:ext cx="1168908" cy="178308"/>
          </a:xfrm>
          <a:prstGeom prst="roundRect">
            <a:avLst/>
          </a:prstGeom>
          <a:solidFill>
            <a:srgbClr val="BE8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askLabel 12"/>
          <p:cNvSpPr/>
          <p:nvPr/>
        </p:nvSpPr>
        <p:spPr>
          <a:xfrm>
            <a:off x="502920" y="5082235"/>
            <a:ext cx="3703320" cy="301752"/>
          </a:xfrm>
          <a:prstGeom prst="rect">
            <a:avLst/>
          </a:prstGeom>
          <a:solidFill>
            <a:srgbClr val="FFFFFF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Documentación técnica y manual</a:t>
            </a:r>
          </a:p>
        </p:txBody>
      </p:sp>
      <p:sp>
        <p:nvSpPr>
          <p:cNvPr id="183" name="PhaseSwatch 12"/>
          <p:cNvSpPr/>
          <p:nvPr/>
        </p:nvSpPr>
        <p:spPr>
          <a:xfrm>
            <a:off x="4005072" y="5146243"/>
            <a:ext cx="118872" cy="155448"/>
          </a:xfrm>
          <a:prstGeom prst="rect">
            <a:avLst/>
          </a:prstGeom>
          <a:solidFill>
            <a:srgbClr val="5C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GridCell 12-1"/>
          <p:cNvSpPr/>
          <p:nvPr/>
        </p:nvSpPr>
        <p:spPr>
          <a:xfrm>
            <a:off x="420806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GridCell 12-2"/>
          <p:cNvSpPr/>
          <p:nvPr/>
        </p:nvSpPr>
        <p:spPr>
          <a:xfrm>
            <a:off x="482909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GridCell 12-3"/>
          <p:cNvSpPr/>
          <p:nvPr/>
        </p:nvSpPr>
        <p:spPr>
          <a:xfrm>
            <a:off x="545012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GridCell 12-4"/>
          <p:cNvSpPr/>
          <p:nvPr/>
        </p:nvSpPr>
        <p:spPr>
          <a:xfrm>
            <a:off x="607115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GridCell 12-5"/>
          <p:cNvSpPr/>
          <p:nvPr/>
        </p:nvSpPr>
        <p:spPr>
          <a:xfrm>
            <a:off x="669218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GridCell 12-6"/>
          <p:cNvSpPr/>
          <p:nvPr/>
        </p:nvSpPr>
        <p:spPr>
          <a:xfrm>
            <a:off x="731321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GridCell 12-7"/>
          <p:cNvSpPr/>
          <p:nvPr/>
        </p:nvSpPr>
        <p:spPr>
          <a:xfrm>
            <a:off x="793424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GridCell 12-8"/>
          <p:cNvSpPr/>
          <p:nvPr/>
        </p:nvSpPr>
        <p:spPr>
          <a:xfrm>
            <a:off x="855527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GridCell 12-9"/>
          <p:cNvSpPr/>
          <p:nvPr/>
        </p:nvSpPr>
        <p:spPr>
          <a:xfrm>
            <a:off x="917630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GridCell 12-10"/>
          <p:cNvSpPr/>
          <p:nvPr/>
        </p:nvSpPr>
        <p:spPr>
          <a:xfrm>
            <a:off x="979733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GridCell 12-11"/>
          <p:cNvSpPr/>
          <p:nvPr/>
        </p:nvSpPr>
        <p:spPr>
          <a:xfrm>
            <a:off x="1041836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GridCell 12-12"/>
          <p:cNvSpPr/>
          <p:nvPr/>
        </p:nvSpPr>
        <p:spPr>
          <a:xfrm>
            <a:off x="11039398" y="5082235"/>
            <a:ext cx="617372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GanttBar 12"/>
          <p:cNvSpPr/>
          <p:nvPr/>
        </p:nvSpPr>
        <p:spPr>
          <a:xfrm>
            <a:off x="9832086" y="5141671"/>
            <a:ext cx="1168908" cy="178308"/>
          </a:xfrm>
          <a:prstGeom prst="roundRect">
            <a:avLst/>
          </a:prstGeom>
          <a:solidFill>
            <a:srgbClr val="5C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askLabel 13"/>
          <p:cNvSpPr/>
          <p:nvPr/>
        </p:nvSpPr>
        <p:spPr>
          <a:xfrm>
            <a:off x="502920" y="5391302"/>
            <a:ext cx="3703320" cy="301752"/>
          </a:xfrm>
          <a:prstGeom prst="rect">
            <a:avLst/>
          </a:prstGeom>
          <a:solidFill>
            <a:srgbClr val="F7FAFC"/>
          </a:solidFill>
          <a:ln w="4445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27432" tIns="9144" bIns="9144"/>
          <a:lstStyle/>
          <a:p>
            <a:pPr algn="l"/>
            <a:r>
              <a:rPr sz="780" b="1">
                <a:solidFill>
                  <a:srgbClr val="142B46"/>
                </a:solidFill>
                <a:latin typeface="Calibri"/>
              </a:rPr>
              <a:t>Empaquetado final y entrega</a:t>
            </a:r>
          </a:p>
        </p:txBody>
      </p:sp>
      <p:sp>
        <p:nvSpPr>
          <p:cNvPr id="198" name="PhaseSwatch 13"/>
          <p:cNvSpPr/>
          <p:nvPr/>
        </p:nvSpPr>
        <p:spPr>
          <a:xfrm>
            <a:off x="4005072" y="5455310"/>
            <a:ext cx="118872" cy="155448"/>
          </a:xfrm>
          <a:prstGeom prst="rect">
            <a:avLst/>
          </a:prstGeom>
          <a:solidFill>
            <a:srgbClr val="5C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GridCell 13-1"/>
          <p:cNvSpPr/>
          <p:nvPr/>
        </p:nvSpPr>
        <p:spPr>
          <a:xfrm>
            <a:off x="420806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GridCell 13-2"/>
          <p:cNvSpPr/>
          <p:nvPr/>
        </p:nvSpPr>
        <p:spPr>
          <a:xfrm>
            <a:off x="482909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GridCell 13-3"/>
          <p:cNvSpPr/>
          <p:nvPr/>
        </p:nvSpPr>
        <p:spPr>
          <a:xfrm>
            <a:off x="545012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GridCell 13-4"/>
          <p:cNvSpPr/>
          <p:nvPr/>
        </p:nvSpPr>
        <p:spPr>
          <a:xfrm>
            <a:off x="607115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ridCell 13-5"/>
          <p:cNvSpPr/>
          <p:nvPr/>
        </p:nvSpPr>
        <p:spPr>
          <a:xfrm>
            <a:off x="669218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GridCell 13-6"/>
          <p:cNvSpPr/>
          <p:nvPr/>
        </p:nvSpPr>
        <p:spPr>
          <a:xfrm>
            <a:off x="731321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GridCell 13-7"/>
          <p:cNvSpPr/>
          <p:nvPr/>
        </p:nvSpPr>
        <p:spPr>
          <a:xfrm>
            <a:off x="793424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GridCell 13-8"/>
          <p:cNvSpPr/>
          <p:nvPr/>
        </p:nvSpPr>
        <p:spPr>
          <a:xfrm>
            <a:off x="855527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GridCell 13-9"/>
          <p:cNvSpPr/>
          <p:nvPr/>
        </p:nvSpPr>
        <p:spPr>
          <a:xfrm>
            <a:off x="917630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GridCell 13-10"/>
          <p:cNvSpPr/>
          <p:nvPr/>
        </p:nvSpPr>
        <p:spPr>
          <a:xfrm>
            <a:off x="979733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idCell 13-11"/>
          <p:cNvSpPr/>
          <p:nvPr/>
        </p:nvSpPr>
        <p:spPr>
          <a:xfrm>
            <a:off x="1041836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ridCell 13-12"/>
          <p:cNvSpPr/>
          <p:nvPr/>
        </p:nvSpPr>
        <p:spPr>
          <a:xfrm>
            <a:off x="11039398" y="5391302"/>
            <a:ext cx="617372" cy="301752"/>
          </a:xfrm>
          <a:prstGeom prst="rect">
            <a:avLst/>
          </a:prstGeom>
          <a:solidFill>
            <a:srgbClr val="F7FAFC"/>
          </a:solidFill>
          <a:ln w="3810">
            <a:solidFill>
              <a:srgbClr val="D6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GanttBar 13"/>
          <p:cNvSpPr/>
          <p:nvPr/>
        </p:nvSpPr>
        <p:spPr>
          <a:xfrm>
            <a:off x="10453115" y="5450738"/>
            <a:ext cx="1168908" cy="178308"/>
          </a:xfrm>
          <a:prstGeom prst="roundRect">
            <a:avLst/>
          </a:prstGeom>
          <a:solidFill>
            <a:srgbClr val="5C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02920" y="5815584"/>
            <a:ext cx="114300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142B46"/>
                </a:solidFill>
                <a:latin typeface="Calibri"/>
              </a:rPr>
              <a:t>Leyenda de fases</a:t>
            </a:r>
          </a:p>
        </p:txBody>
      </p:sp>
      <p:sp>
        <p:nvSpPr>
          <p:cNvPr id="213" name="LegendSwatch Analisis / diseno"/>
          <p:cNvSpPr/>
          <p:nvPr/>
        </p:nvSpPr>
        <p:spPr>
          <a:xfrm>
            <a:off x="1600200" y="5861304"/>
            <a:ext cx="146304" cy="146304"/>
          </a:xfrm>
          <a:prstGeom prst="rect">
            <a:avLst/>
          </a:prstGeom>
          <a:solidFill>
            <a:srgbClr val="22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792224" y="5815584"/>
            <a:ext cx="15544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30" b="0">
                <a:solidFill>
                  <a:srgbClr val="142B46"/>
                </a:solidFill>
                <a:latin typeface="Calibri"/>
              </a:rPr>
              <a:t>Análisis / diseño</a:t>
            </a:r>
          </a:p>
        </p:txBody>
      </p:sp>
      <p:sp>
        <p:nvSpPr>
          <p:cNvPr id="215" name="LegendSwatch Desarrollo backend"/>
          <p:cNvSpPr/>
          <p:nvPr/>
        </p:nvSpPr>
        <p:spPr>
          <a:xfrm>
            <a:off x="3566160" y="5861304"/>
            <a:ext cx="146304" cy="146304"/>
          </a:xfrm>
          <a:prstGeom prst="rect">
            <a:avLst/>
          </a:prstGeom>
          <a:solidFill>
            <a:srgbClr val="33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758184" y="5815584"/>
            <a:ext cx="15544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30" b="0">
                <a:solidFill>
                  <a:srgbClr val="142B46"/>
                </a:solidFill>
                <a:latin typeface="Calibri"/>
              </a:rPr>
              <a:t>Desarrollo backend</a:t>
            </a:r>
          </a:p>
        </p:txBody>
      </p:sp>
      <p:sp>
        <p:nvSpPr>
          <p:cNvPr id="217" name="LegendSwatch Menu e integracion"/>
          <p:cNvSpPr/>
          <p:nvPr/>
        </p:nvSpPr>
        <p:spPr>
          <a:xfrm>
            <a:off x="5532120" y="5861304"/>
            <a:ext cx="146304" cy="146304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724144" y="5815584"/>
            <a:ext cx="15544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30" b="0">
                <a:solidFill>
                  <a:srgbClr val="142B46"/>
                </a:solidFill>
                <a:latin typeface="Calibri"/>
              </a:rPr>
              <a:t>Menú e integracion</a:t>
            </a:r>
          </a:p>
        </p:txBody>
      </p:sp>
      <p:sp>
        <p:nvSpPr>
          <p:cNvPr id="219" name="LegendSwatch Pruebas"/>
          <p:cNvSpPr/>
          <p:nvPr/>
        </p:nvSpPr>
        <p:spPr>
          <a:xfrm>
            <a:off x="7498079" y="5861304"/>
            <a:ext cx="146304" cy="146304"/>
          </a:xfrm>
          <a:prstGeom prst="rect">
            <a:avLst/>
          </a:prstGeom>
          <a:solidFill>
            <a:srgbClr val="BE8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690104" y="5815584"/>
            <a:ext cx="15544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30" b="0">
                <a:solidFill>
                  <a:srgbClr val="142B46"/>
                </a:solidFill>
                <a:latin typeface="Calibri"/>
              </a:rPr>
              <a:t>Pruebas</a:t>
            </a:r>
          </a:p>
        </p:txBody>
      </p:sp>
      <p:sp>
        <p:nvSpPr>
          <p:cNvPr id="221" name="LegendSwatch Documentacion / entrega"/>
          <p:cNvSpPr/>
          <p:nvPr/>
        </p:nvSpPr>
        <p:spPr>
          <a:xfrm>
            <a:off x="9464040" y="5861304"/>
            <a:ext cx="146304" cy="146304"/>
          </a:xfrm>
          <a:prstGeom prst="rect">
            <a:avLst/>
          </a:prstGeom>
          <a:solidFill>
            <a:srgbClr val="5C6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656064" y="5815584"/>
            <a:ext cx="1554480" cy="21945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830" b="0">
                <a:solidFill>
                  <a:srgbClr val="142B46"/>
                </a:solidFill>
                <a:latin typeface="Calibri"/>
              </a:rPr>
              <a:t>Documentación / entrega</a:t>
            </a:r>
          </a:p>
        </p:txBody>
      </p:sp>
      <p:sp>
        <p:nvSpPr>
          <p:cNvPr id="223" name="Shadow GanttFooter"/>
          <p:cNvSpPr/>
          <p:nvPr/>
        </p:nvSpPr>
        <p:spPr>
          <a:xfrm>
            <a:off x="2171700" y="6359652"/>
            <a:ext cx="7863840" cy="329184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anttFooter"/>
          <p:cNvSpPr/>
          <p:nvPr/>
        </p:nvSpPr>
        <p:spPr>
          <a:xfrm>
            <a:off x="2148840" y="6327648"/>
            <a:ext cx="7863840" cy="329184"/>
          </a:xfrm>
          <a:prstGeom prst="roundRect">
            <a:avLst/>
          </a:prstGeom>
          <a:solidFill>
            <a:srgbClr val="5C63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Duración total: 12 semanas · análisis → backend → integración → pruebas → entrega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45720" tIns="27432" bIns="27432"/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Funciones extraídas del pseudocódigo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881360" cy="310896"/>
          </a:xfrm>
          <a:prstGeom prst="rect">
            <a:avLst/>
          </a:prstGeom>
          <a:noFill/>
        </p:spPr>
        <p:txBody>
          <a:bodyPr wrap="non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25B8C"/>
                </a:solidFill>
                <a:latin typeface="Calibri"/>
              </a:rPr>
              <a:t>Bloques que se pueden convertir en funciones al pasar de PSeInt a un lenguaje de programación.</a:t>
            </a:r>
          </a:p>
        </p:txBody>
      </p:sp>
      <p:sp>
        <p:nvSpPr>
          <p:cNvPr id="4" name="Shadow SourcePseudo"/>
          <p:cNvSpPr/>
          <p:nvPr/>
        </p:nvSpPr>
        <p:spPr>
          <a:xfrm>
            <a:off x="800100" y="1449324"/>
            <a:ext cx="2011680" cy="475488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Pseudo"/>
          <p:cNvSpPr/>
          <p:nvPr/>
        </p:nvSpPr>
        <p:spPr>
          <a:xfrm>
            <a:off x="777240" y="1417320"/>
            <a:ext cx="2011680" cy="475488"/>
          </a:xfrm>
          <a:prstGeom prst="roundRect">
            <a:avLst/>
          </a:prstGeom>
          <a:solidFill>
            <a:srgbClr val="142B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PSEUDOCÓDIGO</a:t>
            </a:r>
          </a:p>
        </p:txBody>
      </p:sp>
      <p:sp>
        <p:nvSpPr>
          <p:cNvPr id="6" name="Shadow SourceFunctions"/>
          <p:cNvSpPr/>
          <p:nvPr/>
        </p:nvSpPr>
        <p:spPr>
          <a:xfrm>
            <a:off x="5033772" y="1449324"/>
            <a:ext cx="2148840" cy="475488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Functions"/>
          <p:cNvSpPr/>
          <p:nvPr/>
        </p:nvSpPr>
        <p:spPr>
          <a:xfrm>
            <a:off x="5010912" y="1417320"/>
            <a:ext cx="2148840" cy="475488"/>
          </a:xfrm>
          <a:prstGeom prst="roundRect">
            <a:avLst/>
          </a:prstGeom>
          <a:solidFill>
            <a:srgbClr val="5C63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FUNCIONES CLAVE</a:t>
            </a:r>
          </a:p>
        </p:txBody>
      </p:sp>
      <p:sp>
        <p:nvSpPr>
          <p:cNvPr id="8" name="Shadow SourceCode"/>
          <p:cNvSpPr/>
          <p:nvPr/>
        </p:nvSpPr>
        <p:spPr>
          <a:xfrm>
            <a:off x="9486900" y="1449324"/>
            <a:ext cx="2057400" cy="475488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Code"/>
          <p:cNvSpPr/>
          <p:nvPr/>
        </p:nvSpPr>
        <p:spPr>
          <a:xfrm>
            <a:off x="9464040" y="1417320"/>
            <a:ext cx="2057400" cy="475488"/>
          </a:xfrm>
          <a:prstGeom prst="roundRect">
            <a:avLst/>
          </a:prstGeom>
          <a:solidFill>
            <a:srgbClr val="142B4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CÓDIGO MODULAR</a:t>
            </a:r>
          </a:p>
        </p:txBody>
      </p:sp>
      <p:sp>
        <p:nvSpPr>
          <p:cNvPr id="10" name="PipelineArrow"/>
          <p:cNvSpPr/>
          <p:nvPr/>
        </p:nvSpPr>
        <p:spPr>
          <a:xfrm>
            <a:off x="2999232" y="1481328"/>
            <a:ext cx="1371600" cy="347472"/>
          </a:xfrm>
          <a:prstGeom prst="rightArrow">
            <a:avLst/>
          </a:prstGeom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pelineArrow"/>
          <p:cNvSpPr/>
          <p:nvPr/>
        </p:nvSpPr>
        <p:spPr>
          <a:xfrm>
            <a:off x="7360920" y="1481328"/>
            <a:ext cx="1371600" cy="347472"/>
          </a:xfrm>
          <a:prstGeom prst="rightArrow">
            <a:avLst/>
          </a:prstGeom>
          <a:solidFill>
            <a:srgbClr val="CA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hadow FunctionCard 01"/>
          <p:cNvSpPr/>
          <p:nvPr/>
        </p:nvSpPr>
        <p:spPr>
          <a:xfrm>
            <a:off x="845820" y="2363724"/>
            <a:ext cx="4892040" cy="1143000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unctionCard 01"/>
          <p:cNvSpPr/>
          <p:nvPr/>
        </p:nvSpPr>
        <p:spPr>
          <a:xfrm>
            <a:off x="822960" y="2331720"/>
            <a:ext cx="4892040" cy="1143000"/>
          </a:xfrm>
          <a:prstGeom prst="roundRect">
            <a:avLst/>
          </a:prstGeom>
          <a:solidFill>
            <a:srgbClr val="225B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91440" bIns="73152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01  </a:t>
            </a:r>
            <a:r>
              <a:rPr sz="1350" b="1">
                <a:solidFill>
                  <a:srgbClr val="FFFFFF"/>
                </a:solidFill>
                <a:latin typeface="Calibri"/>
              </a:rPr>
              <a:t>registrarUsuario()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Valida límite y nombre único; inicializa saldo, estadísticas e historial.</a:t>
            </a:r>
          </a:p>
        </p:txBody>
      </p:sp>
      <p:sp>
        <p:nvSpPr>
          <p:cNvPr id="14" name="Shadow FunctionCard 02"/>
          <p:cNvSpPr/>
          <p:nvPr/>
        </p:nvSpPr>
        <p:spPr>
          <a:xfrm>
            <a:off x="6259068" y="2363724"/>
            <a:ext cx="4892040" cy="1143000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unctionCard 02"/>
          <p:cNvSpPr/>
          <p:nvPr/>
        </p:nvSpPr>
        <p:spPr>
          <a:xfrm>
            <a:off x="6236208" y="2331720"/>
            <a:ext cx="4892040" cy="1143000"/>
          </a:xfrm>
          <a:prstGeom prst="roundRect">
            <a:avLst/>
          </a:prstGeom>
          <a:solidFill>
            <a:srgbClr val="337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91440" bIns="73152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02  </a:t>
            </a:r>
            <a:r>
              <a:rPr sz="1350" b="1">
                <a:solidFill>
                  <a:srgbClr val="FFFFFF"/>
                </a:solidFill>
                <a:latin typeface="Calibri"/>
              </a:rPr>
              <a:t>iniciarSesion()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Compara usuario y clave; establece usuario_actual para habilitar las acciones.</a:t>
            </a:r>
          </a:p>
        </p:txBody>
      </p:sp>
      <p:sp>
        <p:nvSpPr>
          <p:cNvPr id="16" name="Shadow FunctionCard 03"/>
          <p:cNvSpPr/>
          <p:nvPr/>
        </p:nvSpPr>
        <p:spPr>
          <a:xfrm>
            <a:off x="845820" y="4192524"/>
            <a:ext cx="4892040" cy="1143000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unctionCard 03"/>
          <p:cNvSpPr/>
          <p:nvPr/>
        </p:nvSpPr>
        <p:spPr>
          <a:xfrm>
            <a:off x="822960" y="4160520"/>
            <a:ext cx="4892040" cy="1143000"/>
          </a:xfrm>
          <a:prstGeom prst="roundRect">
            <a:avLst/>
          </a:prstGeom>
          <a:solidFill>
            <a:srgbClr val="3300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91440" bIns="73152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03  </a:t>
            </a:r>
            <a:r>
              <a:rPr sz="1350" b="1">
                <a:solidFill>
                  <a:srgbClr val="FFFFFF"/>
                </a:solidFill>
                <a:latin typeface="Calibri"/>
              </a:rPr>
              <a:t>procesarTransaccion(tipo, monto)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Gestiona depósitos/retiros con validación de sesión, monto y saldo.</a:t>
            </a:r>
          </a:p>
        </p:txBody>
      </p:sp>
      <p:sp>
        <p:nvSpPr>
          <p:cNvPr id="18" name="Shadow FunctionCard 04"/>
          <p:cNvSpPr/>
          <p:nvPr/>
        </p:nvSpPr>
        <p:spPr>
          <a:xfrm>
            <a:off x="6259068" y="4192524"/>
            <a:ext cx="4892040" cy="1143000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unctionCard 04"/>
          <p:cNvSpPr/>
          <p:nvPr/>
        </p:nvSpPr>
        <p:spPr>
          <a:xfrm>
            <a:off x="6236208" y="4160520"/>
            <a:ext cx="4892040" cy="1143000"/>
          </a:xfrm>
          <a:prstGeom prst="roundRect">
            <a:avLst/>
          </a:prstGeom>
          <a:solidFill>
            <a:srgbClr val="BE892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91440" bIns="73152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04  </a:t>
            </a:r>
            <a:r>
              <a:rPr sz="1350" b="1">
                <a:solidFill>
                  <a:srgbClr val="FFFFFF"/>
                </a:solidFill>
                <a:latin typeface="Calibri"/>
              </a:rPr>
              <a:t>ejecutarJuego(juego, apuesta)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Valida apuesta, ejecuta el motor del juego y calcula premio/resultado.</a:t>
            </a:r>
          </a:p>
        </p:txBody>
      </p:sp>
      <p:sp>
        <p:nvSpPr>
          <p:cNvPr id="20" name="Shadow FunctionFooter"/>
          <p:cNvSpPr/>
          <p:nvPr/>
        </p:nvSpPr>
        <p:spPr>
          <a:xfrm>
            <a:off x="1805939" y="6085332"/>
            <a:ext cx="8641080" cy="457200"/>
          </a:xfrm>
          <a:prstGeom prst="round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unctionFooter"/>
          <p:cNvSpPr/>
          <p:nvPr/>
        </p:nvSpPr>
        <p:spPr>
          <a:xfrm>
            <a:off x="1783080" y="6053328"/>
            <a:ext cx="8641080" cy="457200"/>
          </a:xfrm>
          <a:prstGeom prst="roundRect">
            <a:avLst/>
          </a:prstGeom>
          <a:solidFill>
            <a:srgbClr val="02A5E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Idea central: separar responsabilidades facilita pruebas, mantenimiento y reutilización del código.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SM-A146M</dc:creator>
  <cp:lastModifiedBy>Steve Canny</cp:lastModifiedBy>
  <dcterms:created xsi:type="dcterms:W3CDTF">2013-01-27T21:14:16Z</dcterms:created>
  <dcterms:modified xsi:type="dcterms:W3CDTF">2026-09-11T15:19:03Z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f68d1b89cb274e98b7ef5fb6f34b0374_23</vt:lpwstr>
  </property>
</Properties>
</file>